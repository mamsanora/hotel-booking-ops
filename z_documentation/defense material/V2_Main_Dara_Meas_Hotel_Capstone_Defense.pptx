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70" r:id="rId3"/>
    <p:sldId id="271" r:id="rId4"/>
    <p:sldId id="273" r:id="rId5"/>
    <p:sldId id="272" r:id="rId6"/>
    <p:sldId id="347" r:id="rId7"/>
    <p:sldId id="348" r:id="rId8"/>
    <p:sldId id="349" r:id="rId9"/>
    <p:sldId id="351" r:id="rId10"/>
    <p:sldId id="350" r:id="rId11"/>
    <p:sldId id="275" r:id="rId12"/>
    <p:sldId id="279" r:id="rId13"/>
    <p:sldId id="280" r:id="rId14"/>
    <p:sldId id="284" r:id="rId15"/>
    <p:sldId id="287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292" r:id="rId24"/>
    <p:sldId id="288" r:id="rId25"/>
    <p:sldId id="285" r:id="rId26"/>
    <p:sldId id="289" r:id="rId27"/>
    <p:sldId id="339" r:id="rId28"/>
    <p:sldId id="340" r:id="rId29"/>
    <p:sldId id="341" r:id="rId30"/>
    <p:sldId id="338" r:id="rId31"/>
    <p:sldId id="353" r:id="rId32"/>
    <p:sldId id="286" r:id="rId33"/>
    <p:sldId id="352" r:id="rId34"/>
    <p:sldId id="344" r:id="rId35"/>
    <p:sldId id="345" r:id="rId36"/>
    <p:sldId id="337" r:id="rId37"/>
    <p:sldId id="281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85"/>
    <p:restoredTop sz="96332"/>
  </p:normalViewPr>
  <p:slideViewPr>
    <p:cSldViewPr snapToGrid="0" snapToObjects="1">
      <p:cViewPr varScale="1">
        <p:scale>
          <a:sx n="79" d="100"/>
          <a:sy n="79" d="100"/>
        </p:scale>
        <p:origin x="7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E5C6C-F2C7-8645-808C-176854B9470E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608CD-5DEF-894D-9CE1-58806D5A5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75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647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86151-CD38-493D-1007-F37272D03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BF9D4B-F393-7B2A-53D4-482BC5417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981D0D-812D-C575-3755-B69461B26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C7B54-3872-FAB2-52AB-256FF5825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03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C3941-4162-CEA6-9C5F-354E7EA7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FA140-D41F-4FAA-73DF-7584F032C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21747-8AF4-EED1-BB29-E073107EB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791C-190F-D866-D189-C7958B2E4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30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4124-1FA8-CD5D-2B9C-6275D6012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58A17-9E9D-33FD-95CE-D03DF8E41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108F9-21E0-8ECE-3BBB-22A26CBE3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36050-D44C-C9E3-74BB-00CE426F8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587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69B48-DC29-1EDD-9D43-D6419552F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5BD4D5-D238-A5DB-F067-98296647D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901B3C-0004-CEBB-CD0A-25B8C381D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0C75F-DB14-34BC-9D87-D920A570B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27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C4A45-19AF-7B99-2C97-CE24C39B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02C19-B35F-7615-7AA0-08D514765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38FE54-0663-5E84-F6B4-631D0A0CE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3EDEE-984F-C5DE-C84C-326F0A92C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7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1C4A8-D519-C251-CC1C-3968FD2A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DCAFA-8E1F-8CFE-E662-33B02C3C0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F5056-AC34-4F5C-A1B6-EF3CD0C35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C6E02-5C61-27DB-41E5-B3FB6082C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89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AF63B-66E2-3C3D-49B5-68F724576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3F8B8-2C73-6D5B-858C-B43C1749C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57552-7B7F-88D2-6647-BED896F3C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3B93B-A5E0-83D2-D124-0B556AA90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872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32A1-78AC-4209-401C-5D8213F34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AC011-F844-BC13-41F2-F0B335A2D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AE0A2-A64A-2CF0-A3A5-6852D731D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0E6A9-36A3-DE87-F85E-02DB073618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53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59D0D-A003-3C5D-7143-11719E5D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CA4C6F-9DC0-670F-F52C-5C7FB999C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01B90-F62B-B1D0-08FD-7E2E9697E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2F754-7641-9C14-4590-B0DA6CE855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4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D07F-5C6F-72A6-DF97-0068E471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07A41-1FC0-F46A-4E1D-C43C3C130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920D8-FA69-5DFC-0E0C-1E571406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423F1-077B-E51B-183D-358F26601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9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DBFB6-13F8-B9B2-AF95-702117B2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8E4DC-5770-B543-60D6-93A5EE4CC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3FD18-A00F-FB5B-986F-B18B29DB2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69FDA-F954-1453-E056-44035A756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43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8171-3843-CFE4-3F82-3DBD4C76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DDCF8-3C77-B6A2-2245-33D44A988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690A9-C647-E130-568E-94ADAB7CF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8527A-2FEF-AB49-F458-B8C742C682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29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0B7C8-C58B-D602-917F-2F4F7AF5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3DE47-3245-A7A6-67E9-A4512EDFB5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9969A-861A-EB50-B87C-BFE9C4BE7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E01C0-F219-241D-7297-28FC1B79B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922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CD6F7-E76F-207E-B720-970A5021F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D910B-2EED-B3C8-28A8-F9E2879F5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282422-7769-12FE-6C6E-4E9524D98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1F44C-4294-9878-4AFD-B7D942692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29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87936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6437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00980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8063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08345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80638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11986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A064-140E-E7F9-FC1A-69C306C2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EBDE1-3DDC-2157-E8DB-0FE36C449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26527-B035-8466-6D62-07EBBD9C2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68EED-E602-66F5-6B28-A36980BEC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067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ECA0-7E6D-757B-6704-2099585E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DAC6-AFE8-778E-C90B-87AACA9C0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FCDF8-4F67-4A02-3518-899130DF9E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9D78D-C33E-7430-DCC3-87F3C3530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733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28B2-B7F3-8B99-A133-A0BE4EC9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F40E0-20F3-2254-B808-B1621654B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44D82C-29C4-FB41-8D3A-560306022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3A10-181D-174E-AC3E-AB0FDCFCE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2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212C-B3F6-A798-EA61-7ADF152F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4CB091-3B41-731E-DF78-9DD1622B9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93418-6C00-A8B5-8AD7-A2F9E2AF2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4FD0-A800-EBA4-12ED-A0C3FC8A8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062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3C962-A29F-16E5-587A-82914311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C3847-9FE7-6B56-F686-1B0435DEF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8CD53-A1F7-C61E-8377-60AD5F8E1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1CEC1-EC42-B203-4569-E7B921DDD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77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A1D3-713E-495F-6A48-76F2A1E1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E87A4-2248-70B1-A131-5BBCC2B17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0D84C-3EA8-58B6-6D25-D9FDE3C46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69E73-A369-B4BC-AB3C-11BFFA013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279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6C93-CC17-B55D-43CD-A7036325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692B6-3B0C-8922-3B4B-A8519660C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26BABE-CCE6-21FB-75F7-7A2D772B5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AF55B-1F2A-F22E-1A71-0A3E015C1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7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ED20-9474-89BD-B0F6-5E9B80525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5CE23-87E1-D84B-9737-6164C3D36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38F74-67B7-3CC1-271C-CF43FE2C32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702A9-7C9B-2295-8193-D1CA3C717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789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621F-0F55-EE0A-B128-8E549078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708C0-BC16-A3CD-D08B-A2E06D5E2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62919-ADE8-46D6-02E6-CC8B386EA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9D00B-E2DD-C171-65AB-BD8B02841D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724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6C5CC-96BB-C25B-7266-9D2F5854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ECB53-08D9-5658-F7A6-193918C8A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EC1BE-8D74-B012-9094-55036AD5E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86A56-3A43-51E6-5618-5ADB195E7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382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E0FA-EABF-A088-1FF1-972DE4A9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3E140F-89AE-C6C3-D9BB-C3B0F75A7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64B2F-BB85-A060-99B3-80569C5DC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61347-797B-6E7A-F19F-54A1045FE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838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22B90-E29F-9CB5-3F95-1D1BD1DE4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65AB0-7CFC-B291-A075-7D63A9279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7014A-8EA3-5D0F-CFA2-E9E8B458E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E7DB5-6EB1-19A6-A6F7-3C45E80F6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358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08785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8A15-FCE3-C8E8-868C-7732AF4D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2A267-D576-ADEF-2D27-BF19DCFAB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48330-6D68-D4C0-CF94-C8437401E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83E9-A769-B55B-7373-D7B7EC878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608CD-5DEF-894D-9CE1-58806D5A5F2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7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B2BB-5ACA-4D8C-BFD9-600CA739E363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B08FB-9EF2-4692-966C-C8EAEDE3008E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F242-380D-4476-9435-424E0039EC48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C6A6-2DE2-44C8-B333-B0EFEBBF7AF4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BC1A1-FC06-4364-A6B5-3672EF6DAA9F}" type="datetime1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41AF8-48FB-4AD3-B360-44C0DC58828B}" type="datetime1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77000" y="6356350"/>
            <a:ext cx="2133600" cy="365125"/>
          </a:xfrm>
        </p:spPr>
        <p:txBody>
          <a:bodyPr/>
          <a:lstStyle/>
          <a:p>
            <a:fld id="{D6C83EE7-8E11-48B6-B0C5-4C26BBA8B745}" type="datetime1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47675" y="6167437"/>
            <a:ext cx="2133600" cy="365125"/>
          </a:xfrm>
        </p:spPr>
        <p:txBody>
          <a:bodyPr/>
          <a:lstStyle>
            <a:lvl1pPr algn="l">
              <a:defRPr sz="3700" baseline="0">
                <a:latin typeface="Limon S1" pitchFamily="2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AD09-E1A5-4B1C-8C26-FF331A62E67C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5E0C-C16F-4F17-8FAD-C7D38837F93C}" type="datetime1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5D943-2D14-4D13-85E0-4F527CC703A3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49DB8-4234-4916-A4C8-91D8D9DEB6FF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7BB4D-E09A-4740-8052-688509D4C42D}" type="datetime1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Times New Roman" panose="02020603050405020304" pitchFamily="18" charset="0"/>
          <a:ea typeface="+mj-ea"/>
          <a:cs typeface="Khmer OS Muol Light" panose="02000500000000020004" pitchFamily="2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pulse/agile-methodologies-navigating-change-software-development-ejie-eukdf/" TargetMode="Externa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914398" y="2603000"/>
            <a:ext cx="10362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Arial"/>
              </a:defRPr>
            </a:pPr>
            <a:r>
              <a:rPr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ប្រព័ន្ធដំណើរការកក់សណ្ឋាគារ តារាមាស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397" y="3140980"/>
            <a:ext cx="5790895" cy="18288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59453" y="4520539"/>
            <a:ext cx="362150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lang="km-KH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ណែនាំដោយសាស្រ្តាចារ្យ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  <a:p>
            <a:pPr algn="ctr"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lang="km-KH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សាស្ត្រាចារ្យ លឹម ជុងហ៊ុយ</a:t>
            </a:r>
          </a:p>
          <a:p>
            <a:pPr algn="ctr"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Prof. Lim </a:t>
            </a:r>
            <a:r>
              <a:rPr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Chonghuy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 (</a:t>
            </a:r>
            <a:r>
              <a:rPr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MScIT</a:t>
            </a:r>
            <a:r>
              <a:rPr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)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7B300194-BCE4-9E5C-11F1-B8A4E7B125D8}"/>
              </a:ext>
            </a:extLst>
          </p:cNvPr>
          <p:cNvSpPr/>
          <p:nvPr/>
        </p:nvSpPr>
        <p:spPr>
          <a:xfrm>
            <a:off x="657497" y="414648"/>
            <a:ext cx="3501029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6F932B3-FCEA-0307-05FE-4E776E7656E6}"/>
              </a:ext>
            </a:extLst>
          </p:cNvPr>
          <p:cNvSpPr txBox="1"/>
          <p:nvPr/>
        </p:nvSpPr>
        <p:spPr>
          <a:xfrm>
            <a:off x="7662308" y="360138"/>
            <a:ext cx="4973959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77"/>
              </a:lnSpc>
            </a:pPr>
            <a:r>
              <a:rPr lang="en-US" sz="2000" dirty="0">
                <a:solidFill>
                  <a:srgbClr val="000000"/>
                </a:solidFill>
                <a:latin typeface="Khmer OS Moul Light" panose="02000500000000000000" pitchFamily="2" charset="0"/>
                <a:ea typeface="Moul"/>
                <a:cs typeface="Khmer OS Moul Light" panose="02000500000000000000" pitchFamily="2" charset="0"/>
                <a:sym typeface="Moul"/>
              </a:rPr>
              <a:t>ព្រះរាជាណាចក្រកម្ពុជា</a:t>
            </a:r>
          </a:p>
          <a:p>
            <a:pPr algn="ctr"/>
            <a:r>
              <a:rPr lang="en-US" sz="2000" dirty="0">
                <a:solidFill>
                  <a:srgbClr val="000000"/>
                </a:solidFill>
                <a:latin typeface="Limon NU S1" panose="02000500000000000000" pitchFamily="2" charset="77"/>
                <a:ea typeface="Moul"/>
                <a:cs typeface="Limon NU S1" panose="02000500000000000000" pitchFamily="2" charset="77"/>
                <a:sym typeface="Moul"/>
              </a:rPr>
              <a:t>ជាតិ សាសនា ព្រះមហាក្សត្រ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0876D-6EB6-EECA-BB9B-813C961250A1}"/>
              </a:ext>
            </a:extLst>
          </p:cNvPr>
          <p:cNvSpPr txBox="1"/>
          <p:nvPr/>
        </p:nvSpPr>
        <p:spPr>
          <a:xfrm>
            <a:off x="1655729" y="3209750"/>
            <a:ext cx="8880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Arial"/>
              </a:defRPr>
            </a:pPr>
            <a:r>
              <a:rPr lang="en-GB" sz="2400" dirty="0"/>
              <a:t>Dara Meas Hotel Booking Operation System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D02F7-DE52-5334-08EB-980552E21F76}"/>
              </a:ext>
            </a:extLst>
          </p:cNvPr>
          <p:cNvSpPr/>
          <p:nvPr/>
        </p:nvSpPr>
        <p:spPr>
          <a:xfrm>
            <a:off x="0" y="6367685"/>
            <a:ext cx="12192000" cy="4903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89976FC3-E88C-ADC3-6588-F88E4BB17B63}"/>
              </a:ext>
            </a:extLst>
          </p:cNvPr>
          <p:cNvSpPr txBox="1"/>
          <p:nvPr/>
        </p:nvSpPr>
        <p:spPr>
          <a:xfrm>
            <a:off x="657497" y="2286934"/>
            <a:ext cx="1412311" cy="30636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lnSpc>
                <a:spcPct val="107000"/>
              </a:lnSpc>
              <a:spcAft>
                <a:spcPts val="800"/>
              </a:spcAft>
              <a:buNone/>
              <a:tabLst>
                <a:tab pos="4410710" algn="ctr"/>
              </a:tabLst>
              <a:defRPr sz="13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en-US" dirty="0" err="1">
                <a:latin typeface="Khmer OS Moul Light" panose="02000500000000000000" pitchFamily="2" charset="0"/>
                <a:cs typeface="Khmer OS Moul Light" panose="02000500000000000000" pitchFamily="2" charset="0"/>
                <a:sym typeface="Bayon"/>
              </a:rPr>
              <a:t>ក្រុមទី</a:t>
            </a:r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  <a:sym typeface="Bayon"/>
              </a:rPr>
              <a:t> </a:t>
            </a:r>
            <a:r>
              <a:rPr lang="en-US" dirty="0">
                <a:latin typeface="Khmer OS Moul Light" panose="02000500000000000000" pitchFamily="2" charset="0"/>
                <a:cs typeface="Khmer OS Moul Light" panose="02000500000000000000" pitchFamily="2" charset="0"/>
                <a:sym typeface="Bayon"/>
              </a:rPr>
              <a:t>១</a:t>
            </a:r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  <a:sym typeface="Bayon"/>
              </a:rPr>
              <a:t>៧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517BB309-8CE1-3D83-A49B-A011D8FCF85D}"/>
              </a:ext>
            </a:extLst>
          </p:cNvPr>
          <p:cNvSpPr txBox="1"/>
          <p:nvPr/>
        </p:nvSpPr>
        <p:spPr>
          <a:xfrm>
            <a:off x="4879139" y="6243758"/>
            <a:ext cx="1944832" cy="59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209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chemeClr val="bg1"/>
                </a:solidFill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ឆ្នាំ ២០២</a:t>
            </a:r>
            <a:r>
              <a:rPr lang="km-KH" sz="2000" dirty="0">
                <a:solidFill>
                  <a:schemeClr val="bg1"/>
                </a:solidFill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៦</a:t>
            </a:r>
            <a:endParaRPr lang="en-US" sz="2000" u="none" strike="noStrike" dirty="0">
              <a:solidFill>
                <a:schemeClr val="bg1"/>
              </a:solidFill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41D1D-B33B-CE57-0127-3219773BE93A}"/>
              </a:ext>
            </a:extLst>
          </p:cNvPr>
          <p:cNvSpPr txBox="1"/>
          <p:nvPr/>
        </p:nvSpPr>
        <p:spPr>
          <a:xfrm>
            <a:off x="657497" y="1643273"/>
            <a:ext cx="3024002" cy="62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410710" algn="ctr"/>
              </a:tabLst>
            </a:pPr>
            <a:r>
              <a:rPr lang="km-KH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មហាវិទ្យាល័យ វិទ្យាសាស្រ្ត</a:t>
            </a:r>
            <a:endParaRPr lang="en-GB" sz="1300" dirty="0">
              <a:solidFill>
                <a:schemeClr val="tx1">
                  <a:lumMod val="85000"/>
                  <a:lumOff val="15000"/>
                </a:schemeClr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  <a:tabLst>
                <a:tab pos="4410710" algn="ctr"/>
              </a:tabLst>
            </a:pPr>
            <a:r>
              <a:rPr lang="km-KH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ផ្នែកៈ កុំព្យូទ័រវិទ្យា </a:t>
            </a:r>
            <a:endParaRPr lang="en-GB" sz="1300" dirty="0">
              <a:solidFill>
                <a:schemeClr val="tx1">
                  <a:lumMod val="85000"/>
                  <a:lumOff val="15000"/>
                </a:schemeClr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9BB6ED-769B-E984-850D-FBEDC403DC93}"/>
              </a:ext>
            </a:extLst>
          </p:cNvPr>
          <p:cNvSpPr txBox="1"/>
          <p:nvPr/>
        </p:nvSpPr>
        <p:spPr>
          <a:xfrm>
            <a:off x="657497" y="4264701"/>
            <a:ext cx="3621505" cy="168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រៀបចំ</a:t>
            </a: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r>
              <a:rPr 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និងចងក្រដោយ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</a:br>
            <a:r>
              <a:rPr lang="km-KH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១. ម៉ម សា នរ៉ា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Limon NU S1" panose="02000500000000000000" pitchFamily="2" charset="77"/>
              <a:cs typeface="Limon NU S1" panose="02000500000000000000" pitchFamily="2" charset="77"/>
            </a:endParaRPr>
          </a:p>
          <a:p>
            <a:pPr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lang="km-KH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២. នី សុខច័ន្ទសួស្ដី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Limon NU S1" panose="02000500000000000000" pitchFamily="2" charset="77"/>
              <a:cs typeface="Limon NU S1" panose="02000500000000000000" pitchFamily="2" charset="77"/>
            </a:endParaRPr>
          </a:p>
          <a:p>
            <a:pPr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lang="km-KH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៣. ណាក់ ម៉ាដា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Limon NU S1" panose="02000500000000000000" pitchFamily="2" charset="77"/>
              <a:cs typeface="Limon NU S1" panose="02000500000000000000" pitchFamily="2" charset="77"/>
            </a:endParaRPr>
          </a:p>
          <a:p>
            <a:pPr>
              <a:lnSpc>
                <a:spcPct val="150000"/>
              </a:lnSpc>
              <a:defRPr sz="1300" b="1">
                <a:solidFill>
                  <a:srgbClr val="C8A96E"/>
                </a:solidFill>
                <a:latin typeface="Arial"/>
              </a:defRPr>
            </a:pPr>
            <a:r>
              <a:rPr lang="km-KH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Limon NU S1" panose="02000500000000000000" pitchFamily="2" charset="77"/>
                <a:cs typeface="Limon NU S1" panose="02000500000000000000" pitchFamily="2" charset="77"/>
              </a:rPr>
              <a:t>៤. សេង គីមសាន្ត 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Limon NU S1" panose="02000500000000000000" pitchFamily="2" charset="77"/>
              <a:cs typeface="Limon NU S1" panose="02000500000000000000" pitchFamily="2" charset="77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B62D-0CE1-AE5E-3226-8A299833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8BEA67B4-28D3-0F17-F360-6CF85D2AD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43"/>
          <a:stretch>
            <a:fillRect/>
          </a:stretch>
        </p:blipFill>
        <p:spPr>
          <a:xfrm>
            <a:off x="1350591" y="2115936"/>
            <a:ext cx="2160772" cy="26330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F0E94027-5816-3E3F-B0BB-142E4CDE66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99" b="3299"/>
          <a:stretch/>
        </p:blipFill>
        <p:spPr>
          <a:xfrm>
            <a:off x="3723926" y="2114605"/>
            <a:ext cx="2186376" cy="26255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348E37FC-B9DE-7E92-B82F-21E4994D3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4052" y="2114605"/>
            <a:ext cx="2049735" cy="26294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29D3CFA-01F7-45F7-69BD-94F244EBD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404" y="2078436"/>
            <a:ext cx="2049735" cy="26294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F0D7E16-4386-0BEB-1D25-E946FFE28793}"/>
              </a:ext>
            </a:extLst>
          </p:cNvPr>
          <p:cNvSpPr txBox="1"/>
          <p:nvPr/>
        </p:nvSpPr>
        <p:spPr>
          <a:xfrm>
            <a:off x="1875943" y="379569"/>
            <a:ext cx="8439807" cy="95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99"/>
              </a:lnSpc>
              <a:spcBef>
                <a:spcPct val="0"/>
              </a:spcBef>
            </a:pPr>
            <a:r>
              <a:rPr lang="km-KH" sz="3200" dirty="0">
                <a:solidFill>
                  <a:srgbClr val="000000"/>
                </a:solidFill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ក្រុមស្រាវជ្រាវ និងចងក្រងសារណា</a:t>
            </a:r>
            <a:endParaRPr lang="en-US" sz="3200" dirty="0">
              <a:solidFill>
                <a:srgbClr val="000000"/>
              </a:solidFill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33" name="Rectangle: Rounded Corners 27">
            <a:extLst>
              <a:ext uri="{FF2B5EF4-FFF2-40B4-BE49-F238E27FC236}">
                <a16:creationId xmlns:a16="http://schemas.microsoft.com/office/drawing/2014/main" id="{95C36090-AA4B-3DA5-3849-FB4A1113A8E5}"/>
              </a:ext>
            </a:extLst>
          </p:cNvPr>
          <p:cNvSpPr/>
          <p:nvPr/>
        </p:nvSpPr>
        <p:spPr>
          <a:xfrm>
            <a:off x="1344428" y="5196350"/>
            <a:ext cx="2211980" cy="8267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27">
            <a:extLst>
              <a:ext uri="{FF2B5EF4-FFF2-40B4-BE49-F238E27FC236}">
                <a16:creationId xmlns:a16="http://schemas.microsoft.com/office/drawing/2014/main" id="{3E8C47AB-A3BD-09B4-C1BD-C5F7BBDF4463}"/>
              </a:ext>
            </a:extLst>
          </p:cNvPr>
          <p:cNvSpPr/>
          <p:nvPr/>
        </p:nvSpPr>
        <p:spPr>
          <a:xfrm>
            <a:off x="3720214" y="5196349"/>
            <a:ext cx="2211980" cy="8267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5">
            <a:extLst>
              <a:ext uri="{FF2B5EF4-FFF2-40B4-BE49-F238E27FC236}">
                <a16:creationId xmlns:a16="http://schemas.microsoft.com/office/drawing/2014/main" id="{B26B3692-A375-B46D-E90C-CE5068416746}"/>
              </a:ext>
            </a:extLst>
          </p:cNvPr>
          <p:cNvSpPr txBox="1"/>
          <p:nvPr/>
        </p:nvSpPr>
        <p:spPr>
          <a:xfrm>
            <a:off x="3733016" y="5299262"/>
            <a:ext cx="2170504" cy="3077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km-KH" spc="-150" dirty="0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នី សុខច័ន្ទសួស្ដី</a:t>
            </a:r>
            <a:endParaRPr lang="en-US" spc="-150" dirty="0">
              <a:solidFill>
                <a:schemeClr val="bg1"/>
              </a:solidFill>
              <a:latin typeface="Khmer OS Moul Light" panose="02000500000000000000" pitchFamily="2" charset="0"/>
              <a:ea typeface="Hind Guntur"/>
              <a:cs typeface="Khmer OS Moul Light" panose="02000500000000000000" pitchFamily="2" charset="0"/>
              <a:sym typeface="Hind Guntur"/>
            </a:endParaRPr>
          </a:p>
        </p:txBody>
      </p:sp>
      <p:sp>
        <p:nvSpPr>
          <p:cNvPr id="36" name="TextBox 5">
            <a:extLst>
              <a:ext uri="{FF2B5EF4-FFF2-40B4-BE49-F238E27FC236}">
                <a16:creationId xmlns:a16="http://schemas.microsoft.com/office/drawing/2014/main" id="{1F906B50-4DFA-CFB7-7010-76D6C39AD1E6}"/>
              </a:ext>
            </a:extLst>
          </p:cNvPr>
          <p:cNvSpPr txBox="1"/>
          <p:nvPr/>
        </p:nvSpPr>
        <p:spPr>
          <a:xfrm>
            <a:off x="4130235" y="5221634"/>
            <a:ext cx="1391938" cy="79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99"/>
              </a:lnSpc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latin typeface="Limon NU S1" panose="02000500000000000000" pitchFamily="2" charset="0"/>
                <a:ea typeface="Bayon"/>
                <a:cs typeface="Limon NU S1" panose="02000500000000000000" pitchFamily="2" charset="0"/>
                <a:sym typeface="Bayon"/>
              </a:rPr>
              <a:t>B20233739</a:t>
            </a:r>
          </a:p>
        </p:txBody>
      </p:sp>
      <p:sp>
        <p:nvSpPr>
          <p:cNvPr id="39" name="TextBox 5">
            <a:extLst>
              <a:ext uri="{FF2B5EF4-FFF2-40B4-BE49-F238E27FC236}">
                <a16:creationId xmlns:a16="http://schemas.microsoft.com/office/drawing/2014/main" id="{71AA7102-8945-70C8-0BF3-E5B8C0F38CAE}"/>
              </a:ext>
            </a:extLst>
          </p:cNvPr>
          <p:cNvSpPr txBox="1"/>
          <p:nvPr/>
        </p:nvSpPr>
        <p:spPr>
          <a:xfrm>
            <a:off x="1943293" y="5314652"/>
            <a:ext cx="2590800" cy="2769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r>
              <a:rPr lang="km-KH" spc="-150" dirty="0">
                <a:solidFill>
                  <a:schemeClr val="bg1"/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ម៉ម សា នរ៉ា </a:t>
            </a:r>
            <a:endParaRPr lang="en-GB" spc="-150" dirty="0">
              <a:solidFill>
                <a:schemeClr val="bg1"/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41" name="TextBox 5">
            <a:extLst>
              <a:ext uri="{FF2B5EF4-FFF2-40B4-BE49-F238E27FC236}">
                <a16:creationId xmlns:a16="http://schemas.microsoft.com/office/drawing/2014/main" id="{AFBB48CE-E510-9F0F-C2F8-7D361C50F6A5}"/>
              </a:ext>
            </a:extLst>
          </p:cNvPr>
          <p:cNvSpPr txBox="1"/>
          <p:nvPr/>
        </p:nvSpPr>
        <p:spPr>
          <a:xfrm>
            <a:off x="1754449" y="5211738"/>
            <a:ext cx="1391938" cy="79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99"/>
              </a:lnSpc>
              <a:spcBef>
                <a:spcPct val="0"/>
              </a:spcBef>
            </a:pPr>
            <a:r>
              <a:rPr lang="en-US" b="1" dirty="0">
                <a:solidFill>
                  <a:schemeClr val="bg1"/>
                </a:solidFill>
                <a:latin typeface="Limon NU S1" panose="02000500000000000000" pitchFamily="2" charset="0"/>
                <a:ea typeface="Bayon"/>
                <a:cs typeface="Limon NU S1" panose="02000500000000000000" pitchFamily="2" charset="0"/>
                <a:sym typeface="Bayon"/>
              </a:rPr>
              <a:t>B20252236</a:t>
            </a:r>
          </a:p>
        </p:txBody>
      </p:sp>
      <p:sp>
        <p:nvSpPr>
          <p:cNvPr id="42" name="Rectangle: Rounded Corners 27">
            <a:extLst>
              <a:ext uri="{FF2B5EF4-FFF2-40B4-BE49-F238E27FC236}">
                <a16:creationId xmlns:a16="http://schemas.microsoft.com/office/drawing/2014/main" id="{37D521F2-D02F-E8CE-755A-D59B97071965}"/>
              </a:ext>
            </a:extLst>
          </p:cNvPr>
          <p:cNvSpPr/>
          <p:nvPr/>
        </p:nvSpPr>
        <p:spPr>
          <a:xfrm>
            <a:off x="6096000" y="5175567"/>
            <a:ext cx="2211980" cy="8267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: Rounded Corners 27">
            <a:extLst>
              <a:ext uri="{FF2B5EF4-FFF2-40B4-BE49-F238E27FC236}">
                <a16:creationId xmlns:a16="http://schemas.microsoft.com/office/drawing/2014/main" id="{84473C59-A879-5949-6BFB-F9D0EAA54870}"/>
              </a:ext>
            </a:extLst>
          </p:cNvPr>
          <p:cNvSpPr/>
          <p:nvPr/>
        </p:nvSpPr>
        <p:spPr>
          <a:xfrm>
            <a:off x="8471786" y="5175567"/>
            <a:ext cx="2211980" cy="80599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extBox 5">
            <a:extLst>
              <a:ext uri="{FF2B5EF4-FFF2-40B4-BE49-F238E27FC236}">
                <a16:creationId xmlns:a16="http://schemas.microsoft.com/office/drawing/2014/main" id="{468DA1B7-74A2-1D84-CE6E-6EE761B1F64C}"/>
              </a:ext>
            </a:extLst>
          </p:cNvPr>
          <p:cNvSpPr txBox="1"/>
          <p:nvPr/>
        </p:nvSpPr>
        <p:spPr>
          <a:xfrm>
            <a:off x="8494320" y="5257698"/>
            <a:ext cx="2151904" cy="3077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pc="-150" dirty="0" err="1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សេង</a:t>
            </a:r>
            <a:r>
              <a:rPr lang="en-US" spc="-150" dirty="0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 </a:t>
            </a:r>
            <a:r>
              <a:rPr lang="en-US" spc="-150" dirty="0" err="1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គិមសាន</a:t>
            </a:r>
            <a:r>
              <a:rPr lang="km-KH" spc="-150" dirty="0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្ត</a:t>
            </a:r>
            <a:endParaRPr lang="en-US" spc="-150" dirty="0">
              <a:solidFill>
                <a:schemeClr val="bg1"/>
              </a:solidFill>
              <a:latin typeface="Khmer OS Moul Light" panose="02000500000000000000" pitchFamily="2" charset="0"/>
              <a:ea typeface="Hind Guntur"/>
              <a:cs typeface="Khmer OS Moul Light" panose="02000500000000000000" pitchFamily="2" charset="0"/>
              <a:sym typeface="Hind Guntur"/>
            </a:endParaRPr>
          </a:p>
        </p:txBody>
      </p:sp>
      <p:sp>
        <p:nvSpPr>
          <p:cNvPr id="53" name="Freeform 4">
            <a:extLst>
              <a:ext uri="{FF2B5EF4-FFF2-40B4-BE49-F238E27FC236}">
                <a16:creationId xmlns:a16="http://schemas.microsoft.com/office/drawing/2014/main" id="{126E639A-5C25-D994-CC61-C7D8AA169754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C8740DE-8EA3-2368-DB85-284EB3BE2E37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">
            <a:extLst>
              <a:ext uri="{FF2B5EF4-FFF2-40B4-BE49-F238E27FC236}">
                <a16:creationId xmlns:a16="http://schemas.microsoft.com/office/drawing/2014/main" id="{E43BBA41-19F9-8E96-784B-626335C36277}"/>
              </a:ext>
            </a:extLst>
          </p:cNvPr>
          <p:cNvSpPr txBox="1"/>
          <p:nvPr/>
        </p:nvSpPr>
        <p:spPr>
          <a:xfrm>
            <a:off x="5903520" y="5673780"/>
            <a:ext cx="2590800" cy="3077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b="1" dirty="0">
                <a:solidFill>
                  <a:schemeClr val="bg1"/>
                </a:solidFill>
                <a:latin typeface="Limon NU S1" panose="02000500000000000000" pitchFamily="2" charset="0"/>
                <a:cs typeface="Limon NU S1" panose="02000500000000000000" pitchFamily="2" charset="0"/>
                <a:sym typeface="Hind Guntur"/>
              </a:rPr>
              <a:t>B20230342</a:t>
            </a:r>
          </a:p>
        </p:txBody>
      </p:sp>
      <p:sp>
        <p:nvSpPr>
          <p:cNvPr id="60" name="TextBox 5">
            <a:extLst>
              <a:ext uri="{FF2B5EF4-FFF2-40B4-BE49-F238E27FC236}">
                <a16:creationId xmlns:a16="http://schemas.microsoft.com/office/drawing/2014/main" id="{2797ABA3-15E3-1CE4-A0D8-9B61512DC9E7}"/>
              </a:ext>
            </a:extLst>
          </p:cNvPr>
          <p:cNvSpPr txBox="1"/>
          <p:nvPr/>
        </p:nvSpPr>
        <p:spPr>
          <a:xfrm>
            <a:off x="8293643" y="5647606"/>
            <a:ext cx="2590800" cy="3077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b="1" dirty="0">
                <a:solidFill>
                  <a:schemeClr val="bg1"/>
                </a:solidFill>
                <a:latin typeface="Limon NU S1" panose="02000500000000000000" pitchFamily="2" charset="0"/>
                <a:cs typeface="Limon NU S1" panose="02000500000000000000" pitchFamily="2" charset="0"/>
                <a:sym typeface="Hind Guntur"/>
              </a:rPr>
              <a:t>B20233491</a:t>
            </a:r>
          </a:p>
        </p:txBody>
      </p:sp>
      <p:sp>
        <p:nvSpPr>
          <p:cNvPr id="66" name="TextBox 5">
            <a:extLst>
              <a:ext uri="{FF2B5EF4-FFF2-40B4-BE49-F238E27FC236}">
                <a16:creationId xmlns:a16="http://schemas.microsoft.com/office/drawing/2014/main" id="{AF88DE9F-3C17-6A5B-EA95-F948DE85996F}"/>
              </a:ext>
            </a:extLst>
          </p:cNvPr>
          <p:cNvSpPr txBox="1"/>
          <p:nvPr/>
        </p:nvSpPr>
        <p:spPr>
          <a:xfrm>
            <a:off x="6096000" y="5299262"/>
            <a:ext cx="2197644" cy="30777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7"/>
              </a:lnSpc>
            </a:pPr>
            <a:r>
              <a:rPr lang="en-US" spc="-150" dirty="0" err="1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ណាក</a:t>
            </a:r>
            <a:r>
              <a:rPr lang="en-US" spc="-150" dirty="0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់ </a:t>
            </a:r>
            <a:r>
              <a:rPr lang="en-US" spc="-150" dirty="0" err="1">
                <a:solidFill>
                  <a:schemeClr val="bg1"/>
                </a:solidFill>
                <a:latin typeface="Khmer OS Moul Light" panose="02000500000000000000" pitchFamily="2" charset="0"/>
                <a:ea typeface="Hind Guntur"/>
                <a:cs typeface="Khmer OS Moul Light" panose="02000500000000000000" pitchFamily="2" charset="0"/>
                <a:sym typeface="Hind Guntur"/>
              </a:rPr>
              <a:t>ម៉ាកដា</a:t>
            </a:r>
            <a:endParaRPr lang="en-US" spc="-150" dirty="0">
              <a:solidFill>
                <a:schemeClr val="bg1"/>
              </a:solidFill>
              <a:latin typeface="Khmer OS Moul Light" panose="02000500000000000000" pitchFamily="2" charset="0"/>
              <a:ea typeface="Hind Guntur"/>
              <a:cs typeface="Khmer OS Moul Light" panose="02000500000000000000" pitchFamily="2" charset="0"/>
              <a:sym typeface="Hind Guntur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3E1217-58D0-DB87-9625-A24EFFB9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871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2BEA-FC4B-9883-CD44-D4B81AFB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5B9FCC-2A57-F48C-978C-E68FF57982D3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1AD0E671-1837-97FF-BA46-F98E73C52353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4BADA9-FB4F-6ABC-8A7D-C831D3BC37CF}"/>
              </a:ext>
            </a:extLst>
          </p:cNvPr>
          <p:cNvSpPr txBox="1"/>
          <p:nvPr/>
        </p:nvSpPr>
        <p:spPr>
          <a:xfrm>
            <a:off x="1875943" y="379569"/>
            <a:ext cx="8439807" cy="936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499"/>
              </a:lnSpc>
              <a:spcBef>
                <a:spcPct val="0"/>
              </a:spcBef>
            </a:pPr>
            <a:r>
              <a:rPr lang="km-KH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មាតិកា</a:t>
            </a:r>
            <a:endParaRPr lang="en-US" sz="3200" dirty="0">
              <a:solidFill>
                <a:srgbClr val="000000"/>
              </a:solidFill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325CC-40E2-4232-F7E2-E4E010551C41}"/>
              </a:ext>
            </a:extLst>
          </p:cNvPr>
          <p:cNvSpPr txBox="1"/>
          <p:nvPr/>
        </p:nvSpPr>
        <p:spPr>
          <a:xfrm>
            <a:off x="3962400" y="1690727"/>
            <a:ext cx="4267200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១.</a:t>
            </a:r>
            <a:r>
              <a:rPr lang="en-US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 </a:t>
            </a: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សេចក្តីផ្តើម</a:t>
            </a:r>
            <a:endParaRPr lang="en-US" sz="24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84B3BDB-6841-4573-40C1-D8A4394748F0}"/>
              </a:ext>
            </a:extLst>
          </p:cNvPr>
          <p:cNvSpPr txBox="1"/>
          <p:nvPr/>
        </p:nvSpPr>
        <p:spPr>
          <a:xfrm>
            <a:off x="2025650" y="2307904"/>
            <a:ext cx="8140700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២.</a:t>
            </a:r>
            <a:r>
              <a:rPr lang="en-US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 </a:t>
            </a: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ឯកសារ និងទ្រឹស្តីដែលពាក់ព័ន្ធ</a:t>
            </a:r>
            <a:endParaRPr lang="en-US" sz="24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72E68EB-C17B-E975-CE75-BB1932F08E8C}"/>
              </a:ext>
            </a:extLst>
          </p:cNvPr>
          <p:cNvSpPr txBox="1"/>
          <p:nvPr/>
        </p:nvSpPr>
        <p:spPr>
          <a:xfrm>
            <a:off x="1187450" y="2925081"/>
            <a:ext cx="9817100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៣.</a:t>
            </a:r>
            <a:r>
              <a:rPr lang="en-US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 </a:t>
            </a: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វិធីសាស្ត្រ និងរចនាសម្ព័ន្ធនៃការសិក្សា</a:t>
            </a:r>
            <a:endParaRPr lang="en-US" sz="24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0FB4ED1E-0549-04CC-74DC-ABDE49A01762}"/>
              </a:ext>
            </a:extLst>
          </p:cNvPr>
          <p:cNvSpPr txBox="1"/>
          <p:nvPr/>
        </p:nvSpPr>
        <p:spPr>
          <a:xfrm>
            <a:off x="1714500" y="3542258"/>
            <a:ext cx="8763000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៤.</a:t>
            </a:r>
            <a:r>
              <a:rPr lang="en-US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 </a:t>
            </a: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ការវិភាគ ការគ្រោង និងការអនុវត្ត</a:t>
            </a:r>
            <a:endParaRPr lang="en-US" sz="24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DCE75F76-3BF3-383C-997F-F317B0F86CCF}"/>
              </a:ext>
            </a:extLst>
          </p:cNvPr>
          <p:cNvSpPr txBox="1"/>
          <p:nvPr/>
        </p:nvSpPr>
        <p:spPr>
          <a:xfrm>
            <a:off x="-457200" y="4159436"/>
            <a:ext cx="13106400" cy="5078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៥.</a:t>
            </a:r>
            <a:r>
              <a:rPr lang="en-US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 </a:t>
            </a:r>
            <a:r>
              <a:rPr lang="km-KH" sz="24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សេចក្តីសង្ខេប សេចក្តីសន្និដ្ឋាន និងការផ្តល់អនុសាសន៍</a:t>
            </a:r>
            <a:endParaRPr lang="en-US" sz="24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BF825-4F21-0F30-4A73-B15EE26E8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0813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639C0-C27C-A1B8-3FE4-DE9A8281D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40DF5-225D-2673-3D96-7E65B9AA8117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E1873D-AB92-C400-5337-E9775CA969EC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ជំពូកទី ១.</a:t>
            </a:r>
            <a:r>
              <a:rPr lang="en-US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 </a:t>
            </a:r>
            <a:r>
              <a:rPr lang="km-KH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សេចក្តីផ្តើម</a:t>
            </a:r>
            <a:endParaRPr lang="en-US" sz="32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pic>
        <p:nvPicPr>
          <p:cNvPr id="11" name="Picture 10" descr="A logo on a yellow background&#10;&#10;Description automatically generated">
            <a:extLst>
              <a:ext uri="{FF2B5EF4-FFF2-40B4-BE49-F238E27FC236}">
                <a16:creationId xmlns:a16="http://schemas.microsoft.com/office/drawing/2014/main" id="{DCE6D0A3-7228-F3E2-C595-0D88F2C56FE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750367" y="2137687"/>
            <a:ext cx="2690958" cy="39779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57761-8818-818E-60C5-AD29A35E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669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D358-9DF8-B33C-39A8-8ED9C8EE7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B3D75F-D842-9094-8FCB-B350747E8A17}"/>
              </a:ext>
            </a:extLst>
          </p:cNvPr>
          <p:cNvSpPr txBox="1"/>
          <p:nvPr/>
        </p:nvSpPr>
        <p:spPr>
          <a:xfrm>
            <a:off x="822958" y="2012563"/>
            <a:ext cx="5763579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ឆ្នាំបង្កើត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Founded): 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ឆ្នាំ២០១៩ (ជាសហគ្រាសបដិសណ្ឋារកិច្ចខ្នាតមធ្យម)។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សមត្ថភាពទទួលភ្ញៀវ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Capacity): 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មានបន្ទប់ស្នាក់នៅសរុបចំនួន ៤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១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 បន្ទប់ ដែលបំពាក់ដោយបរិក្ខារទំនើបៗ។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ប្រភេទបន្ទប់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Room Types):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Standard Room (Twin + Double)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Deluxe Room (Twin + Double)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Family Triple Room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5CC06E-B829-5916-1020-A040F5640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537" y="1651506"/>
            <a:ext cx="4782504" cy="45262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43040D-323A-133E-3ECB-EFC52B0B235B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EEF0A-D236-AE3F-B0D9-18D43B29075F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សណ្ឋាគារ តារាមាស</a:t>
            </a:r>
            <a:endParaRPr lang="en-US" sz="32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7BEB538A-0810-55D8-544C-B9DAA0A6B638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B0F43F-FDA7-FE9C-1B4E-398B537D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5899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11F2-80F2-7E93-D3A2-A663AA31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F50FC-6470-80AC-DB41-80EF60357317}"/>
              </a:ext>
            </a:extLst>
          </p:cNvPr>
          <p:cNvSpPr txBox="1"/>
          <p:nvPr/>
        </p:nvSpPr>
        <p:spPr>
          <a:xfrm>
            <a:off x="949162" y="1651506"/>
            <a:ext cx="6988338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  <a:lvl2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2pPr>
          </a:lstStyle>
          <a:p>
            <a:r>
              <a:rPr lang="km-KH" dirty="0"/>
              <a:t>បន្ទាប់ពីបានចុះកម្មសិក្សានៅ សណ្ឋាគារ តារាមាស</a:t>
            </a:r>
            <a:r>
              <a:rPr lang="en-US" dirty="0"/>
              <a:t> </a:t>
            </a:r>
            <a:r>
              <a:rPr lang="en-US" dirty="0" err="1"/>
              <a:t>រួចម</a:t>
            </a:r>
            <a:r>
              <a:rPr lang="km-KH" dirty="0"/>
              <a:t>កយើងបានរកឃើញបញ្ហាមួយចំនួន</a:t>
            </a:r>
            <a:r>
              <a:rPr lang="en-US" dirty="0"/>
              <a:t> </a:t>
            </a:r>
            <a:r>
              <a:rPr lang="km-KH" dirty="0"/>
              <a:t>ដូចជា៖</a:t>
            </a:r>
          </a:p>
          <a:p>
            <a:r>
              <a:rPr lang="km-KH" dirty="0"/>
              <a:t>ការកត់ត្រាបញ្ជីដោយដៃ (</a:t>
            </a:r>
            <a:r>
              <a:rPr lang="en-GB" dirty="0"/>
              <a:t>Manual Bookkeeping)</a:t>
            </a:r>
            <a:r>
              <a:rPr lang="km-KH" dirty="0"/>
              <a:t>៖ ការប្រើប្រាស់សៀវភៅ ឬ </a:t>
            </a:r>
            <a:r>
              <a:rPr lang="en-GB" dirty="0"/>
              <a:t>Excel </a:t>
            </a:r>
            <a:r>
              <a:rPr lang="km-KH" dirty="0"/>
              <a:t>ងាយនឹងមានកំហុសឆ្គង បាត់បង់ឯកសារ និងពិបាកស្វែងរកទិន្នន័យចាស់ៗ។</a:t>
            </a:r>
          </a:p>
          <a:p>
            <a:r>
              <a:rPr lang="km-KH" dirty="0"/>
              <a:t>ហានិភ័យនៃការកក់ជាន់គ្នា (</a:t>
            </a:r>
            <a:r>
              <a:rPr lang="en-GB" dirty="0"/>
              <a:t>Double-Booking Risk)</a:t>
            </a:r>
            <a:r>
              <a:rPr lang="km-KH" dirty="0"/>
              <a:t>៖ កង្វះការធ្វើសមកាលកម្មទិន្នន័យ (</a:t>
            </a:r>
            <a:r>
              <a:rPr lang="en-GB" dirty="0"/>
              <a:t>Real-time sync) </a:t>
            </a:r>
            <a:r>
              <a:rPr lang="km-KH" dirty="0"/>
              <a:t>ធ្វើឱ្យមានការកក់បន្ទប់ជាន់គ្នានៅរដូវកាលមានភ្ញៀវច្រើន។</a:t>
            </a:r>
          </a:p>
          <a:p>
            <a:r>
              <a:rPr lang="km-KH" dirty="0"/>
              <a:t>ការទូទាត់សាច់ប្រាក់សុទ្ធ (</a:t>
            </a:r>
            <a:r>
              <a:rPr lang="en-GB" dirty="0"/>
              <a:t>Cash-Only Auditing)</a:t>
            </a:r>
            <a:r>
              <a:rPr lang="km-KH" dirty="0"/>
              <a:t>៖ ការពឹងផ្អែកលើសាច់ប្រាក់សុទ្ធ ធ្វើឱ្យយឺតយ៉ាវក្នុងការបូកសរុបចំណូលប្រចាំថ្ងៃ និងងាយបាត់បង់ថវិកា។</a:t>
            </a:r>
            <a:r>
              <a:rPr lang="en-US" dirty="0"/>
              <a:t> </a:t>
            </a:r>
            <a:endParaRPr lang="km-KH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ACFF6-EECA-1777-0B36-393E0B91A3CE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0E181-2CBD-325C-2EA7-2F3203A4B2D1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បញ្ហានៃការសិក្សា (</a:t>
            </a:r>
            <a:r>
              <a:rPr lang="en-GB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Problems</a:t>
            </a:r>
            <a:r>
              <a:rPr lang="en-GB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E54114-A25A-925E-7028-D1684DFF6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0" y="2149594"/>
            <a:ext cx="3653013" cy="2739760"/>
          </a:xfrm>
          <a:prstGeom prst="rect">
            <a:avLst/>
          </a:prstGeom>
        </p:spPr>
      </p:pic>
      <p:sp>
        <p:nvSpPr>
          <p:cNvPr id="9" name="Freeform 4">
            <a:extLst>
              <a:ext uri="{FF2B5EF4-FFF2-40B4-BE49-F238E27FC236}">
                <a16:creationId xmlns:a16="http://schemas.microsoft.com/office/drawing/2014/main" id="{E576F654-123D-1F8B-0CB9-2B6E1DCB9006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29A22-B900-A16A-60D4-3CC1DF99E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77183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04B53-3E85-B4BF-99BB-8C2961EE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4AF6E-B7D6-E492-A67B-78A4A9A50848}"/>
              </a:ext>
            </a:extLst>
          </p:cNvPr>
          <p:cNvSpPr txBox="1"/>
          <p:nvPr/>
        </p:nvSpPr>
        <p:spPr>
          <a:xfrm>
            <a:off x="949162" y="1651506"/>
            <a:ext cx="6416838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គោលបំណងនៃការសិក្សា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Objectives):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ប្រព័ន្ធគ្រប់គ្រងបែបឌីជីថល៖ បង្កើតប្រព័ន្ធគ្រប់គ្រងសណ្ឋាគារតាមគេហទំព័រ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Web-based System)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ដើម្បីលុបបំបាត់ការកត់ត្រាលើក្រដាស។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ភាពងាយស្រួលក្នុងការកក់៖ ផ្តល់លទ្ធភាពជូនភ្ញៀវក្នុងការស្វែងរក និងកក់បន្ទប់តាមអនឡាញបាន ២៤ម៉ោង។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ការទូទាត់ប្រាក់ទំនើប៖ ភ្ជាប់ប្រព័ន្ធទូទាត់ប្រាក់ឌីជីថល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KHQR)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ដើម្បីកាត់បន្ថយការប្រើប្រាស់សាច់ប្រាក់សុទ្ធ។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បង្កើនប្រាក់ចំណូល៖ បង្កើតប្រព័ន្ធគណនាការកក់លើសចំណុះ (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Overbooking Optimization)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ដើម្បីជួយសណ្ឋាគារទាញយកប្រាក់ចំណូលបានអតិបរមា។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D38F6C-4C8D-A12B-4926-A6A3ED3B2F10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6006A-ACAA-FF48-B6D2-6D87F73C5C84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គោលបំណងនៃការសិក្សា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 (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)</a:t>
            </a:r>
            <a:endParaRPr lang="km-KH" sz="3200" dirty="0">
              <a:solidFill>
                <a:schemeClr val="tx1">
                  <a:lumMod val="85000"/>
                  <a:lumOff val="15000"/>
                </a:schemeClr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C233F4F8-B9A7-B100-D0C9-E9B7292C2ECB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59D3BB-EFED-F5AF-511F-9647408DB9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94126" y="2149594"/>
            <a:ext cx="2739760" cy="273976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7BEEF-E924-AE4B-A445-E8FD24F5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8124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40920-D7E2-9DB5-114D-043C0F7C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65FBAD-20C9-E0A8-A1C6-D17AFF10B481}"/>
              </a:ext>
            </a:extLst>
          </p:cNvPr>
          <p:cNvSpPr txBox="1"/>
          <p:nvPr/>
        </p:nvSpPr>
        <p:spPr>
          <a:xfrm>
            <a:off x="949162" y="1651506"/>
            <a:ext cx="7470938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latin typeface="Limon NU S1" panose="02000500000000000000" pitchFamily="2" charset="77"/>
                <a:cs typeface="Limon NU S1" panose="02000500000000000000" pitchFamily="2" charset="77"/>
              </a:rPr>
              <a:t>ទំហំនៃការសិក្សា (</a:t>
            </a:r>
            <a:r>
              <a:rPr lang="en-US" sz="1600" b="1" dirty="0">
                <a:latin typeface="Limon NU S1" panose="02000500000000000000" pitchFamily="2" charset="77"/>
                <a:cs typeface="Limon NU S1" panose="02000500000000000000" pitchFamily="2" charset="77"/>
              </a:rPr>
              <a:t>Scope of the Study):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ការកក់បន្ទប់៖ ភ្ញៀវអាចស្វែងរក និងកក់បន្ទប់តាមអនឡាញ ២៤ម៉ោង។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endParaRPr lang="km-KH" sz="1600" dirty="0">
              <a:latin typeface="Limon NU S1" panose="02000500000000000000" pitchFamily="2" charset="77"/>
              <a:cs typeface="Limon NU S1" panose="02000500000000000000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ការទូទាត់ប្រាក់៖ អាចទូទាត់ប្រាក់ឌីជីថលយ៉ាងរហ័សតាមរយៈ 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KHQR (</a:t>
            </a:r>
            <a:r>
              <a:rPr lang="en-US" sz="1600" dirty="0" err="1">
                <a:latin typeface="Limon NU S1" panose="02000500000000000000" pitchFamily="2" charset="77"/>
                <a:cs typeface="Limon NU S1" panose="02000500000000000000" pitchFamily="2" charset="77"/>
              </a:rPr>
              <a:t>Bakong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ការគ្រប់គ្រង៖ មានផ្ទាំងគ្រប់គ្រង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Dashboard)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សម្រាប់បុគ្គលិកតាមដានស្ថានភាពបន្ទប់ និងរដ្ឋបាលត្រួតពិនិត្យចំណូល។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ប្រព័ន្ធឆ្លាតវៃ៖ មានប្រព័ន្ធជួយគណនាទប់ស្កាត់ការកក់លើសចំណុះ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Overbooking Optimization)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4D12CE-0A3D-66CC-C674-7D2F7172B276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B7EEB3-DE08-F87C-B20F-CF1C3290BBAF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ទំហំ និង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វិសាលភាព</a:t>
            </a: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នៃការសិក្សា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 (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)</a:t>
            </a:r>
            <a:endParaRPr lang="km-KH" sz="3200" dirty="0">
              <a:solidFill>
                <a:schemeClr val="tx1">
                  <a:lumMod val="85000"/>
                  <a:lumOff val="15000"/>
                </a:schemeClr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480F6A-1F7F-C3F3-B6E9-4F5E711E9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0415" y="1651506"/>
            <a:ext cx="2739760" cy="273976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CF5918D0-7AAB-16E3-A275-A629864ABA81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320CC-BBB9-4D73-2615-16B14936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81691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475F3-269B-F770-DB13-107AB2042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B23A1-E83F-5B23-D655-26875807E92D}"/>
              </a:ext>
            </a:extLst>
          </p:cNvPr>
          <p:cNvSpPr txBox="1"/>
          <p:nvPr/>
        </p:nvSpPr>
        <p:spPr>
          <a:xfrm>
            <a:off x="949162" y="1651506"/>
            <a:ext cx="7470938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m-KH" sz="1600" b="1" dirty="0">
                <a:latin typeface="Limon NU S1" panose="02000500000000000000" pitchFamily="2" charset="77"/>
                <a:cs typeface="Limon NU S1" panose="02000500000000000000" pitchFamily="2" charset="77"/>
              </a:rPr>
              <a:t>ដែនកំណត់នៃការសិក្សា (</a:t>
            </a:r>
            <a:r>
              <a:rPr lang="en-US" sz="1600" b="1" dirty="0">
                <a:latin typeface="Limon NU S1" panose="02000500000000000000" pitchFamily="2" charset="77"/>
                <a:cs typeface="Limon NU S1" panose="02000500000000000000" pitchFamily="2" charset="77"/>
              </a:rPr>
              <a:t>Limitations / Out of Scope):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មិនមានការភ្ជាប់ប្រព័ន្ធដោយស្វ័យប្រវត្តិទៅកាន់ភ្នាក់ងារកក់បន្ទប់ផ្សេងៗ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OTA)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ដូចជា </a:t>
            </a:r>
            <a:r>
              <a:rPr lang="en-US" sz="1600" dirty="0" err="1">
                <a:latin typeface="Limon NU S1" panose="02000500000000000000" pitchFamily="2" charset="77"/>
                <a:cs typeface="Limon NU S1" panose="02000500000000000000" pitchFamily="2" charset="77"/>
              </a:rPr>
              <a:t>Booking.com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ឬ 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Agoda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នោះទេ។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មិនមានប្រព័ន្ធបញ្ជាបើកសោទ្វារបន្ទប់សណ្ឋាគារដោយស្វ័យប្រវត្តិ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Smart Door Locks)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នៅឡើយទេ។</a:t>
            </a:r>
            <a:endParaRPr lang="en-US" sz="1600" dirty="0">
              <a:latin typeface="Limon NU S1" panose="02000500000000000000" pitchFamily="2" charset="77"/>
              <a:cs typeface="Limon NU S1" panose="02000500000000000000" pitchFamily="2" charset="7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ប្រព័ន្ធគណនេយ្យ និងហិរញ្ញវត្ថុពេញលេញ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 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POS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កម្រិតខ្ពស់សម្រាប់ភោជនីយដ្ឋានជាដើម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ការរួមបញ្ចូល </a:t>
            </a:r>
            <a:r>
              <a:rPr lang="en-GB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IoT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ម៉ូឌុលជាក់លាក់ខ្ពស់ដែលត្រូវការគោលនយោបាយ និងឯកសារផ្លូវការកម្រិតខ្ពស់។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m-KH" sz="1600" dirty="0">
              <a:latin typeface="Limon NU S1" panose="02000500000000000000" pitchFamily="2" charset="77"/>
              <a:cs typeface="Limon NU S1" panose="02000500000000000000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C15429-836E-C2D0-B7B9-78852A57437B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E0715-B1B5-72F0-E417-838F9F22CD00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ទំហំ និង </a:t>
            </a:r>
            <a:r>
              <a:rPr lang="en-US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វិសាលភាព</a:t>
            </a:r>
            <a:r>
              <a:rPr lang="km-KH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នៃការសិក្សា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 (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Khmer OS Moul Light" panose="02000500000000000000" pitchFamily="2" charset="0"/>
                <a:cs typeface="Khmer OS Moul Light" panose="02000500000000000000" pitchFamily="2" charset="0"/>
              </a:rPr>
              <a:t>)</a:t>
            </a:r>
            <a:endParaRPr lang="km-KH" sz="3200" dirty="0">
              <a:solidFill>
                <a:schemeClr val="tx1">
                  <a:lumMod val="85000"/>
                  <a:lumOff val="15000"/>
                </a:schemeClr>
              </a:solidFill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38C2D9-59D1-BC3D-D780-9BA22E2D2C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14313" y="1884022"/>
            <a:ext cx="2745862" cy="273976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6AD774F8-0F92-9295-ED34-4B54360E1682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BCC01-4503-3D85-3324-B9CDA9EBB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23492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FA285-48C8-2835-DCB2-E2439D98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CC224-12F2-A922-DC15-927352C50065}"/>
              </a:ext>
            </a:extLst>
          </p:cNvPr>
          <p:cNvSpPr txBox="1"/>
          <p:nvPr/>
        </p:nvSpPr>
        <p:spPr>
          <a:xfrm>
            <a:off x="949162" y="1651506"/>
            <a:ext cx="6858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សម្រាប់ម្ចាស់សណ្ឋាគារ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For Hotel Management): 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បង្កើនប្រាក់ចំណូលតាមរយៈការគ្រប់គ្រងបន្ទប់បានល្អ និងមានរបាយការណ៍ហិរញ្ញវត្ថុច្បាស់លាស់។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សម្រាប់បុគ្គលិក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For Hotel Staff): 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កាត់បន្ថយកំហុសឆ្គង និងសន្សំពេលវេលាក្នុងការកត់ត្រា និងរៀបចំបន្ទប់ជូនភ្ញៀវ។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សម្រាប់ភ្ញៀវ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For Guests): 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ផ្តល់ភាពងាយស្រួលក្នុងការស្វែងរកបន្ទប់ កក់ និងទូទាត់ប្រាក់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KHQR) 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បានយ៉ាងរហ័ស។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សម្រាប់សង្គម និងការស្រាវជ្រាវ (</a:t>
            </a:r>
            <a:r>
              <a:rPr lang="en-US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For Society/Research): </a:t>
            </a:r>
            <a:r>
              <a:rPr lang="km-KH" sz="1600" dirty="0">
                <a:latin typeface="Limon NU S1" panose="02000500000000000000" pitchFamily="2" charset="77"/>
                <a:cs typeface="Limon NU S1" panose="02000500000000000000" pitchFamily="2" charset="77"/>
              </a:rPr>
              <a:t>ចូលរួមចំណែកជំរុញការប្រើប្រាស់បច្ចេកវិទ្យាឌីជីថល ក្នុងវិស័យបដិសណ្ឋារកិច្ចនៅកម្ពុជា។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C48729-4B85-D76B-A15C-58203B8EA816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FA4D9-904B-5F71-D856-1406585792EC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ផលប្រយោជន៍នៃការសិក្សា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D859E-5EB9-DA92-9D9C-65D9FC0903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14313" y="1789731"/>
            <a:ext cx="2745862" cy="2739760"/>
          </a:xfrm>
          <a:prstGeom prst="rect">
            <a:avLst/>
          </a:prstGeom>
        </p:spPr>
      </p:pic>
      <p:sp>
        <p:nvSpPr>
          <p:cNvPr id="3" name="Freeform 4">
            <a:extLst>
              <a:ext uri="{FF2B5EF4-FFF2-40B4-BE49-F238E27FC236}">
                <a16:creationId xmlns:a16="http://schemas.microsoft.com/office/drawing/2014/main" id="{75E51662-3C75-9A3F-9704-6F8B84B5F1AD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5C97D-2A3D-C7A4-307D-C0153315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45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5DF2C-DF7F-1995-6D17-EC9645BD6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02091E-643F-42D0-030A-FAA82951E04F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B1005-9699-2CD1-F049-2D51C8A42C48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ជំពូកទី </a:t>
            </a:r>
            <a:r>
              <a:rPr lang="en-US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២ </a:t>
            </a:r>
            <a:r>
              <a:rPr lang="km-KH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ឯកសារ និងទ្រឹស្តីដែលពាក់ព័ន្ធ</a:t>
            </a:r>
            <a:endParaRPr lang="en-US" sz="3200" dirty="0">
              <a:latin typeface="Khmer OS Moul Light" panose="02000500000000000000" pitchFamily="2" charset="0"/>
              <a:ea typeface="Bayon"/>
              <a:cs typeface="Khmer OS Moul Light" panose="02000500000000000000" pitchFamily="2" charset="0"/>
              <a:sym typeface="Bayon"/>
            </a:endParaRPr>
          </a:p>
        </p:txBody>
      </p:sp>
      <p:pic>
        <p:nvPicPr>
          <p:cNvPr id="11" name="Picture 10" descr="A logo on a yellow background&#10;&#10;Description automatically generated">
            <a:extLst>
              <a:ext uri="{FF2B5EF4-FFF2-40B4-BE49-F238E27FC236}">
                <a16:creationId xmlns:a16="http://schemas.microsoft.com/office/drawing/2014/main" id="{F3A94F26-3F22-1F4F-CC3B-241EE42526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750367" y="2137687"/>
            <a:ext cx="2690958" cy="39779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D1F14-E4C2-EC09-4502-18E4F5971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0878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F48E-F055-320F-4F18-A2CD31459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78F18-7120-9FB5-D69B-773B56A8F192}"/>
              </a:ext>
            </a:extLst>
          </p:cNvPr>
          <p:cNvSpPr txBox="1"/>
          <p:nvPr/>
        </p:nvSpPr>
        <p:spPr>
          <a:xfrm>
            <a:off x="5816120" y="1992232"/>
            <a:ext cx="5850363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</a:lstStyle>
          <a:p>
            <a:r>
              <a:rPr lang="en-US" dirty="0"/>
              <a:t>The Software Development Life Cycle (SDLC) </a:t>
            </a:r>
            <a:r>
              <a:rPr lang="en-US" dirty="0" err="1"/>
              <a:t>គឺជាវិធីសាស្ត្រ</a:t>
            </a:r>
            <a:r>
              <a:rPr lang="km-KH" dirty="0"/>
              <a:t>ដែលត្រូវបានគេកំណត់</a:t>
            </a:r>
            <a:r>
              <a:rPr lang="en-US" dirty="0" err="1"/>
              <a:t>ជាជំហានៗដែលក្រុមការងារប្រើប្រាស់ដើម្បីរៀបចំផែនការ</a:t>
            </a:r>
            <a:r>
              <a:rPr lang="km-KH" dirty="0"/>
              <a:t> </a:t>
            </a:r>
            <a:r>
              <a:rPr lang="en-US" dirty="0" err="1"/>
              <a:t>រចនាប្រព័ន្ធ</a:t>
            </a:r>
            <a:r>
              <a:rPr lang="en-US" dirty="0"/>
              <a:t> </a:t>
            </a:r>
            <a:r>
              <a:rPr lang="en-US" dirty="0" err="1"/>
              <a:t>បង្កើត</a:t>
            </a:r>
            <a:r>
              <a:rPr lang="en-US" dirty="0"/>
              <a:t> </a:t>
            </a:r>
            <a:r>
              <a:rPr lang="en-US" dirty="0" err="1"/>
              <a:t>សាកល្បង</a:t>
            </a:r>
            <a:r>
              <a:rPr lang="en-US" dirty="0"/>
              <a:t> </a:t>
            </a:r>
            <a:r>
              <a:rPr lang="en-US" dirty="0" err="1"/>
              <a:t>ដាក់ឱ្យប្រើប្រាស</a:t>
            </a:r>
            <a:r>
              <a:rPr lang="en-US" dirty="0"/>
              <a:t>់ </a:t>
            </a:r>
            <a:r>
              <a:rPr lang="en-US" dirty="0" err="1"/>
              <a:t>និងថែទាំប្រព័ន្ធកម្មវិធីឱ្យមានគុណភាពខ្ពស</a:t>
            </a:r>
            <a:r>
              <a:rPr lang="en-US" dirty="0"/>
              <a:t>់។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Planning (</a:t>
            </a:r>
            <a:r>
              <a:rPr lang="en-US" dirty="0" err="1"/>
              <a:t>ប្រមូលព័ត៌មាន</a:t>
            </a:r>
            <a:r>
              <a:rPr lang="en-US" dirty="0"/>
              <a:t> </a:t>
            </a:r>
            <a:r>
              <a:rPr lang="en-US" dirty="0" err="1"/>
              <a:t>និងកំណត់គោលបំណងប្រព័ន្ធ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Analysis (</a:t>
            </a:r>
            <a:r>
              <a:rPr lang="en-US" dirty="0" err="1"/>
              <a:t>វិភាគតម្រូវការ</a:t>
            </a:r>
            <a:r>
              <a:rPr lang="en-US" dirty="0"/>
              <a:t> </a:t>
            </a:r>
            <a:r>
              <a:rPr lang="en-US" dirty="0" err="1"/>
              <a:t>និងបញ្ហារបស់ប្រព័ន្ធ</a:t>
            </a:r>
            <a:r>
              <a:rPr lang="en-US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Design (</a:t>
            </a:r>
            <a:r>
              <a:rPr lang="km-KH" dirty="0"/>
              <a:t>រចនាប្រព័ន្ធ)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Implementation</a:t>
            </a:r>
            <a:r>
              <a:rPr lang="km-KH" dirty="0"/>
              <a:t> (</a:t>
            </a:r>
            <a:r>
              <a:rPr lang="en-US" dirty="0" err="1"/>
              <a:t>សរសេរកូដ</a:t>
            </a:r>
            <a:r>
              <a:rPr lang="km-KH" dirty="0"/>
              <a:t>)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Testing</a:t>
            </a:r>
            <a:r>
              <a:rPr lang="km-KH" dirty="0"/>
              <a:t> (</a:t>
            </a:r>
            <a:r>
              <a:rPr lang="en-US" dirty="0" err="1"/>
              <a:t>សាកល្បង</a:t>
            </a:r>
            <a:r>
              <a:rPr lang="en-US" dirty="0"/>
              <a:t> </a:t>
            </a:r>
            <a:r>
              <a:rPr lang="en-US" dirty="0" err="1"/>
              <a:t>និងកែតម្រូវកំហុស</a:t>
            </a:r>
            <a:r>
              <a:rPr lang="km-KH" dirty="0"/>
              <a:t>)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Deployment</a:t>
            </a:r>
            <a:r>
              <a:rPr lang="km-KH" dirty="0"/>
              <a:t> (</a:t>
            </a:r>
            <a:r>
              <a:rPr lang="en-US" dirty="0" err="1"/>
              <a:t>ដាក់ប្រព័ន្ធឱ្យប្រើប្រាស់ជាក់ស្តែង</a:t>
            </a:r>
            <a:r>
              <a:rPr lang="km-KH" dirty="0"/>
              <a:t>)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Maintenance</a:t>
            </a:r>
            <a:r>
              <a:rPr lang="km-KH" dirty="0"/>
              <a:t> (</a:t>
            </a:r>
            <a:r>
              <a:rPr lang="en-US" dirty="0" err="1"/>
              <a:t>ថែទាំ</a:t>
            </a:r>
            <a:r>
              <a:rPr lang="en-US" dirty="0"/>
              <a:t> </a:t>
            </a:r>
            <a:r>
              <a:rPr lang="en-US" dirty="0" err="1"/>
              <a:t>កែប្រែ</a:t>
            </a:r>
            <a:r>
              <a:rPr lang="en-US" dirty="0"/>
              <a:t> </a:t>
            </a:r>
            <a:r>
              <a:rPr lang="en-US" dirty="0" err="1"/>
              <a:t>និងអភិវឌ្ឍបន្ថែម</a:t>
            </a:r>
            <a:r>
              <a:rPr lang="km-KH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4A724C-97AA-8E16-38F5-00FA86050F78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F3A55-2C9A-A9C5-7536-B840D647C4C3}"/>
              </a:ext>
            </a:extLst>
          </p:cNvPr>
          <p:cNvSpPr txBox="1"/>
          <p:nvPr/>
        </p:nvSpPr>
        <p:spPr>
          <a:xfrm>
            <a:off x="1875943" y="379569"/>
            <a:ext cx="843980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ទ្រឹស្តីដែលពាក់ព័ន្ធ និងវិធីសាស្រ្តនៃការវិភាគ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9CB806-2077-4EC3-6590-E1529CAC9653}"/>
              </a:ext>
            </a:extLst>
          </p:cNvPr>
          <p:cNvSpPr txBox="1"/>
          <p:nvPr/>
        </p:nvSpPr>
        <p:spPr>
          <a:xfrm>
            <a:off x="819595" y="9379751"/>
            <a:ext cx="593879" cy="592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km-KH" sz="2800" b="1" dirty="0">
                <a:latin typeface="Limon NU S1" panose="02000500000000000000" pitchFamily="2" charset="0"/>
                <a:cs typeface="Limon NU S1" panose="02000500000000000000" pitchFamily="2" charset="0"/>
              </a:rPr>
              <a:t>១០</a:t>
            </a: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FD95EB04-73B4-A7FC-E550-5703753141B6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28F26E-8F56-FCD8-67D7-8378C231E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95" y="1887555"/>
            <a:ext cx="4788461" cy="385532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9A4A5A-525D-BE50-92C2-11795CA0F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577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4365-3A16-5B64-E680-8C8DB45F0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EB1142-A584-E1AC-EFB0-1545B9681762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69AB8-8237-47BE-8A1B-30D0664C4375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ទ្រឹស្តីដែលពាក់ព័ន្ធ</a:t>
            </a:r>
            <a:r>
              <a:rPr lang="en-US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</a:t>
            </a:r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នឹងការបង្កើតប្រព័ន្ធ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B8789-DD00-BF15-4157-7D7C89A3A581}"/>
              </a:ext>
            </a:extLst>
          </p:cNvPr>
          <p:cNvSpPr txBox="1"/>
          <p:nvPr/>
        </p:nvSpPr>
        <p:spPr>
          <a:xfrm>
            <a:off x="819595" y="9379751"/>
            <a:ext cx="593879" cy="592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km-KH" sz="2800" b="1" dirty="0">
                <a:latin typeface="Limon NU S1" panose="02000500000000000000" pitchFamily="2" charset="0"/>
                <a:cs typeface="Limon NU S1" panose="02000500000000000000" pitchFamily="2" charset="0"/>
              </a:rPr>
              <a:t>១០</a:t>
            </a: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F8E696EE-E1A2-DC00-9728-5BA1647EE3E6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4" descr="Nextjs icon - Free Download PNG &amp; SVG | Streamline">
            <a:extLst>
              <a:ext uri="{FF2B5EF4-FFF2-40B4-BE49-F238E27FC236}">
                <a16:creationId xmlns:a16="http://schemas.microsoft.com/office/drawing/2014/main" id="{D9907883-EE51-5036-719A-EA56B74511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71548" y="5440461"/>
            <a:ext cx="236752" cy="236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FAD79-7B11-CB35-8CF7-33A6C1E25712}"/>
              </a:ext>
            </a:extLst>
          </p:cNvPr>
          <p:cNvSpPr txBox="1"/>
          <p:nvPr/>
        </p:nvSpPr>
        <p:spPr>
          <a:xfrm>
            <a:off x="1000902" y="1530458"/>
            <a:ext cx="76228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  <a:lvl2pPr marL="914400" lvl="1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 sz="2500">
                <a:latin typeface="Limon NU S1" panose="02000500000000000000" pitchFamily="2" charset="0"/>
                <a:cs typeface="Limon NU S1" panose="02000500000000000000" pitchFamily="2" charset="0"/>
              </a:defRPr>
            </a:lvl2pPr>
          </a:lstStyle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Platform </a:t>
            </a:r>
            <a:r>
              <a:rPr lang="km-KH" dirty="0"/>
              <a:t>របស់យើងត្រូវបានបង្កើតឡើងដោយ </a:t>
            </a:r>
            <a:r>
              <a:rPr lang="en-US" dirty="0"/>
              <a:t>Technology </a:t>
            </a:r>
            <a:r>
              <a:rPr lang="km-KH" dirty="0"/>
              <a:t>ដូចខាងក្រោម៖</a:t>
            </a:r>
          </a:p>
        </p:txBody>
      </p:sp>
      <p:pic>
        <p:nvPicPr>
          <p:cNvPr id="11" name="Picture 10" descr="A blue and black logo&#10;&#10;AI-generated content may be incorrect.">
            <a:extLst>
              <a:ext uri="{FF2B5EF4-FFF2-40B4-BE49-F238E27FC236}">
                <a16:creationId xmlns:a16="http://schemas.microsoft.com/office/drawing/2014/main" id="{F0AF5E88-D1D0-4D47-DC35-B73BB4754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89" y="2239030"/>
            <a:ext cx="1722475" cy="17224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13633B-9AF8-0BF0-279D-AF940FB9B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363" y="1968967"/>
            <a:ext cx="1766691" cy="19642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55385B-E5BC-DC57-2175-E2043615FB6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5" t="15229" r="24745" b="12934"/>
          <a:stretch>
            <a:fillRect/>
          </a:stretch>
        </p:blipFill>
        <p:spPr bwMode="auto">
          <a:xfrm>
            <a:off x="4382556" y="2430579"/>
            <a:ext cx="1908962" cy="13557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4BA58D-57E4-1C98-25DC-F640CA43FD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6265" y="2365794"/>
            <a:ext cx="1421446" cy="1421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977EF14-7447-A807-01B7-EE34871EDE4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054" y="2231672"/>
            <a:ext cx="3239138" cy="1689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Picture 19" descr="MySQL">
            <a:extLst>
              <a:ext uri="{FF2B5EF4-FFF2-40B4-BE49-F238E27FC236}">
                <a16:creationId xmlns:a16="http://schemas.microsoft.com/office/drawing/2014/main" id="{3EDC197B-A49B-126A-8C6A-292C24163E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869" y="4484038"/>
            <a:ext cx="3239138" cy="1388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B7D48D4-F478-71F4-7791-E63D4A4C1C6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3457" y="4820528"/>
            <a:ext cx="3917240" cy="1188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What is Docker Hub?">
            <a:extLst>
              <a:ext uri="{FF2B5EF4-FFF2-40B4-BE49-F238E27FC236}">
                <a16:creationId xmlns:a16="http://schemas.microsoft.com/office/drawing/2014/main" id="{2338D2EF-AEAE-7C75-EB51-77C7119968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130" y="4276719"/>
            <a:ext cx="1908962" cy="190896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58995A-2FA0-7D6B-3E7C-0A9D1E45D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1072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AF9A-9B2D-88CE-8584-46FF992ED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84DC97-286D-4FAD-AC6D-65051DF8CFFE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AF872-2422-8055-306D-E123B329929F}"/>
              </a:ext>
            </a:extLst>
          </p:cNvPr>
          <p:cNvSpPr txBox="1"/>
          <p:nvPr/>
        </p:nvSpPr>
        <p:spPr>
          <a:xfrm>
            <a:off x="1875943" y="379569"/>
            <a:ext cx="843980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km-KH" sz="3200" dirty="0">
                <a:latin typeface="Khmer OS Moul Light" panose="02000500000000000000" pitchFamily="2" charset="0"/>
                <a:ea typeface="Bayon"/>
                <a:cs typeface="Khmer OS Moul Light" panose="02000500000000000000" pitchFamily="2" charset="0"/>
                <a:sym typeface="Bayon"/>
              </a:rPr>
              <a:t>ជំពូកទី ៣ៈ វិធីសាស្រ្ត និងរចនាសម្ព័ន្ធនៃការសិក្សា</a:t>
            </a:r>
          </a:p>
        </p:txBody>
      </p:sp>
      <p:pic>
        <p:nvPicPr>
          <p:cNvPr id="11" name="Picture 10" descr="A logo on a yellow background&#10;&#10;Description automatically generated">
            <a:extLst>
              <a:ext uri="{FF2B5EF4-FFF2-40B4-BE49-F238E27FC236}">
                <a16:creationId xmlns:a16="http://schemas.microsoft.com/office/drawing/2014/main" id="{B367786F-680D-7FFF-A669-F9BC8B608AB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750367" y="2137687"/>
            <a:ext cx="2690958" cy="39779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D48C37-A786-54F1-7234-683D9284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2148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D4679-DC1A-968E-09D1-711347A0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BCC2EB-9837-4D9C-4369-BD936CB0467E}"/>
              </a:ext>
            </a:extLst>
          </p:cNvPr>
          <p:cNvSpPr txBox="1"/>
          <p:nvPr/>
        </p:nvSpPr>
        <p:spPr>
          <a:xfrm>
            <a:off x="731520" y="1740412"/>
            <a:ext cx="11344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/>
              <a:t>Platform </a:t>
            </a:r>
            <a:r>
              <a:rPr lang="km-KH" dirty="0"/>
              <a:t>របស់យើងជ្រើសរើសយក </a:t>
            </a:r>
            <a:r>
              <a:rPr lang="en-US" dirty="0"/>
              <a:t>Agile Methodology </a:t>
            </a:r>
            <a:r>
              <a:rPr lang="km-KH" dirty="0"/>
              <a:t>មកអនុវត្ត ហើយដំណាក់កាល</a:t>
            </a:r>
            <a:r>
              <a:rPr lang="en-US" dirty="0"/>
              <a:t> Agile </a:t>
            </a:r>
            <a:r>
              <a:rPr lang="km-KH" dirty="0"/>
              <a:t>មានដូចជា៖</a:t>
            </a:r>
            <a:r>
              <a:rPr lang="en-US" dirty="0"/>
              <a:t> </a:t>
            </a:r>
            <a:r>
              <a:rPr lang="en-US" dirty="0">
                <a:latin typeface="Limon NU S1" panose="02000500000000000000" pitchFamily="2" charset="0"/>
                <a:cs typeface="Limon NU S1" panose="02000500000000000000" pitchFamily="2" charset="0"/>
              </a:rPr>
              <a:t> </a:t>
            </a:r>
            <a:endParaRPr lang="km-KH" dirty="0">
              <a:latin typeface="Limon NU S1" panose="02000500000000000000" pitchFamily="2" charset="0"/>
              <a:cs typeface="Limon NU S1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2E5464-F6D6-8840-52D2-2F88D1CB2083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DEA55B-2437-A6F2-134E-16525F79DC14}"/>
              </a:ext>
            </a:extLst>
          </p:cNvPr>
          <p:cNvSpPr txBox="1"/>
          <p:nvPr/>
        </p:nvSpPr>
        <p:spPr>
          <a:xfrm>
            <a:off x="1546104" y="379569"/>
            <a:ext cx="90997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ទ្រឹស្តីដែលពាក់ព័ន្ធ និងវិធីសាស្រ្តនៃការវិភាគ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E57080AE-E5DB-421C-577E-291214981A34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B5DBC4-651D-8997-01BC-C3262B215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203" y="2325264"/>
            <a:ext cx="4263286" cy="3428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B0AB66-2196-1111-3452-9C6BF84314FC}"/>
              </a:ext>
            </a:extLst>
          </p:cNvPr>
          <p:cNvSpPr txBox="1"/>
          <p:nvPr/>
        </p:nvSpPr>
        <p:spPr>
          <a:xfrm>
            <a:off x="1916566" y="5908100"/>
            <a:ext cx="8358559" cy="3385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spcBef>
                <a:spcPct val="0"/>
              </a:spcBef>
              <a:defRPr sz="2500" b="0" i="0">
                <a:effectLst/>
                <a:latin typeface="Limon NU S1" panose="02000500000000000000" pitchFamily="2" charset="0"/>
                <a:cs typeface="Limon NU S1" panose="02000500000000000000" pitchFamily="2" charset="0"/>
              </a:defRPr>
            </a:lvl1pPr>
            <a:lvl2pPr marL="914400" lvl="1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  <a:defRPr sz="2500">
                <a:latin typeface="Limon NU S1" panose="02000500000000000000" pitchFamily="2" charset="0"/>
                <a:cs typeface="Limon NU S1" panose="02000500000000000000" pitchFamily="2" charset="0"/>
              </a:defRPr>
            </a:lvl2pPr>
          </a:lstStyle>
          <a:p>
            <a:pPr algn="ctr"/>
            <a:r>
              <a:rPr lang="en-GB" sz="1600" dirty="0">
                <a:hlinkClick r:id="rId5"/>
              </a:rPr>
              <a:t>Agile Methodologies: Navigating Change in Software Development</a:t>
            </a:r>
            <a:endParaRPr lang="km-KH" sz="1600" dirty="0">
              <a:latin typeface="Limon NU S1" panose="02000500000000000000" pitchFamily="2" charset="0"/>
              <a:cs typeface="Limon NU S1" panose="02000500000000000000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81DB1-7338-22EF-5551-1DE9D66F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776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6" y="709941"/>
            <a:ext cx="5549440" cy="4513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ដំណាក់កាលទី១ៈ តម្រូវការ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Requirement)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4A6E31-EE9F-5B98-4AF4-AB909EE00656}"/>
              </a:ext>
            </a:extLst>
          </p:cNvPr>
          <p:cNvSpPr txBox="1"/>
          <p:nvPr/>
        </p:nvSpPr>
        <p:spPr>
          <a:xfrm>
            <a:off x="942316" y="1837510"/>
            <a:ext cx="8544584" cy="370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pPr marL="457223" indent="-457223" algn="l">
              <a:buFont typeface="Wingdings" panose="05000000000000000000" pitchFamily="2" charset="2"/>
              <a:buChar char="q"/>
            </a:pP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តម្រូវការសម្រាប់ភ្ញៀវ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Guest Requirements): 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ត្រូវមានប្រព័ន្ធដែលអាចឲ្យភ្ញៀវស្វែងរកបន្ទប់ទំនេរ កក់បន្ទប់ និងទូទាត់ប្រាក់តាម 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KHQR 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ដោយខ្លួនឯងបាន ២៤ម៉ោង។</a:t>
            </a:r>
          </a:p>
          <a:p>
            <a:pPr marL="457223" indent="-457223" algn="l">
              <a:buFont typeface="Wingdings" panose="05000000000000000000" pitchFamily="2" charset="2"/>
              <a:buChar char="q"/>
            </a:pP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តម្រូវការសម្រាប់បុគ្គលិក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Staff Requirements): 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ត្រូវការផ្ទាំងការងារ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Dashboard) 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ងាយស្រួលមើល ដើម្បីចុះឈ្មោះភ្ញៀវចេញ-ចូល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Check-in/out) 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និងតាមដានស្ថានភាពបន្ទប់ (ទំនេរ, មានភ្ញៀវ, កខ្វក់)។</a:t>
            </a:r>
          </a:p>
          <a:p>
            <a:pPr marL="457223" indent="-457223" algn="l">
              <a:buFont typeface="Wingdings" panose="05000000000000000000" pitchFamily="2" charset="2"/>
              <a:buChar char="q"/>
            </a:pP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តម្រូវការសម្រាប់អ្នកគ្រប់គ្រង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Admin Requirements): 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ត្រូវមានប្រព័ន្ធគ្រប់គ្រងទិន្នន័យបុគ្គលិក កំណត់តម្លៃបន្ទប់ និងអាចទាញយករបាយការណ៍ចំណូលប្រចាំខែបានច្បាស់លាស់។</a:t>
            </a:r>
          </a:p>
          <a:p>
            <a:pPr marL="457223" indent="-457223" algn="l">
              <a:buFont typeface="Wingdings" panose="05000000000000000000" pitchFamily="2" charset="2"/>
              <a:buChar char="q"/>
            </a:pP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តម្រូវការទូទៅរបស់ប្រព័ន្ធ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System Requirements): 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ប្រព័ន្ធត្រូវធ្វើការផ្លាស់ប្តូរទិន្នន័យភ្លាមៗ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Real-time) 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ដើម្បីការពារបញ្ហាកក់បន្ទប់ជាន់គ្នា (</a:t>
            </a: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Double-Booking)</a:t>
            </a:r>
            <a:r>
              <a:rPr lang="km-KH" sz="1800" dirty="0">
                <a:latin typeface="Limon NU S1" panose="02000500000000000000" pitchFamily="2" charset="0"/>
                <a:cs typeface="Limon NU S1" panose="02000500000000000000" pitchFamily="2" charset="0"/>
              </a:rPr>
              <a:t>។</a:t>
            </a:r>
          </a:p>
          <a:p>
            <a:pPr marL="457223" indent="-457223" algn="l">
              <a:buFont typeface="Wingdings" panose="05000000000000000000" pitchFamily="2" charset="2"/>
              <a:buChar char="q"/>
            </a:pPr>
            <a:endParaRPr lang="en-US" sz="1800" dirty="0">
              <a:latin typeface="Limon NU S1" panose="02000500000000000000" pitchFamily="2" charset="0"/>
              <a:cs typeface="Limon NU S1" panose="02000500000000000000" pitchFamily="2" charset="0"/>
            </a:endParaRPr>
          </a:p>
        </p:txBody>
      </p:sp>
      <p:pic>
        <p:nvPicPr>
          <p:cNvPr id="7" name="Picture 6" descr="A product manager drafting a product requirements document while reviewing user stories and validation documentation.">
            <a:extLst>
              <a:ext uri="{FF2B5EF4-FFF2-40B4-BE49-F238E27FC236}">
                <a16:creationId xmlns:a16="http://schemas.microsoft.com/office/drawing/2014/main" id="{5B3ADEB8-E1BF-5461-9007-F50FEC78B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092" y="4560000"/>
            <a:ext cx="2826932" cy="21201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14948C-8FC1-0B86-67BB-A08B41CE6CD8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0F66D2B4-CF38-404E-B755-C2213F0F6361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3E53DF-3F21-82B7-38DC-E9A89D27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16970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5" y="709941"/>
            <a:ext cx="5899635" cy="4513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ដំណាក់កាលទី២ៈ ការរៀបចំគម្រោង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Design)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96B75C5-4ADD-C973-E837-71C4D7989DE4}"/>
              </a:ext>
            </a:extLst>
          </p:cNvPr>
          <p:cNvSpPr/>
          <p:nvPr/>
        </p:nvSpPr>
        <p:spPr>
          <a:xfrm>
            <a:off x="9557091" y="4325112"/>
            <a:ext cx="2634909" cy="2404132"/>
          </a:xfrm>
          <a:custGeom>
            <a:avLst/>
            <a:gdLst/>
            <a:ahLst/>
            <a:cxnLst/>
            <a:rect l="l" t="t" r="r" b="b"/>
            <a:pathLst>
              <a:path w="7885193" h="6120881">
                <a:moveTo>
                  <a:pt x="0" y="0"/>
                </a:moveTo>
                <a:lnTo>
                  <a:pt x="7885193" y="0"/>
                </a:lnTo>
                <a:lnTo>
                  <a:pt x="7885193" y="6120880"/>
                </a:lnTo>
                <a:lnTo>
                  <a:pt x="0" y="6120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AED4DF-71BB-66AE-D0B1-984F5834D07C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D24AB558-467F-106C-1BC2-403FF90C308A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9CC5E2E0-200D-5B87-2312-769C3E414F55}"/>
              </a:ext>
            </a:extLst>
          </p:cNvPr>
          <p:cNvSpPr txBox="1"/>
          <p:nvPr/>
        </p:nvSpPr>
        <p:spPr>
          <a:xfrm>
            <a:off x="942316" y="1837510"/>
            <a:ext cx="8544584" cy="37394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r>
              <a:rPr lang="km-KH" dirty="0"/>
              <a:t>ការរចនាចំណុចប្រទាក់ (</a:t>
            </a:r>
            <a:r>
              <a:rPr lang="en-US" dirty="0"/>
              <a:t>UI/UX Design)</a:t>
            </a:r>
            <a:r>
              <a:rPr lang="km-KH" dirty="0"/>
              <a:t>៖ រៀបចំគំនូសតាង និងរចនាទំព័រគេហទំព័រសម្រាប់ភ្ញៀវ (</a:t>
            </a:r>
            <a:r>
              <a:rPr lang="en-US" dirty="0"/>
              <a:t>Guest Portal) </a:t>
            </a:r>
            <a:r>
              <a:rPr lang="km-KH" dirty="0"/>
              <a:t>និងផ្ទាំងគ្រប់គ្រងសម្រាប់បុគ្គលិក (</a:t>
            </a:r>
            <a:r>
              <a:rPr lang="en-US" dirty="0"/>
              <a:t>Admin Dashboard) </a:t>
            </a:r>
            <a:r>
              <a:rPr lang="km-KH" dirty="0"/>
              <a:t>ឱ្យងាយស្រួលប្រើប្រាស់។</a:t>
            </a:r>
          </a:p>
          <a:p>
            <a:r>
              <a:rPr lang="km-KH" dirty="0"/>
              <a:t>ស្ថាបត្យកម្មប្រព័ន្ធ (</a:t>
            </a:r>
            <a:r>
              <a:rPr lang="en-US" dirty="0"/>
              <a:t>System Architecture)</a:t>
            </a:r>
            <a:r>
              <a:rPr lang="km-KH" dirty="0"/>
              <a:t>៖ កំណត់រចនាសម្ព័ន្ធសិទ្ធិអ្នកប្រើប្រាស់ (</a:t>
            </a:r>
            <a:r>
              <a:rPr lang="en-US" dirty="0"/>
              <a:t>RBAC - Role-Based Access Control) </a:t>
            </a:r>
            <a:r>
              <a:rPr lang="km-KH" dirty="0"/>
              <a:t>បែងចែកជា </a:t>
            </a:r>
            <a:r>
              <a:rPr lang="en-US" dirty="0"/>
              <a:t>Admin, Manager, Receptionist, </a:t>
            </a:r>
            <a:r>
              <a:rPr lang="km-KH" dirty="0"/>
              <a:t>និង </a:t>
            </a:r>
            <a:r>
              <a:rPr lang="en-US" dirty="0"/>
              <a:t>Guest</a:t>
            </a:r>
            <a:r>
              <a:rPr lang="km-KH" dirty="0"/>
              <a:t>។</a:t>
            </a:r>
          </a:p>
          <a:p>
            <a:r>
              <a:rPr lang="km-KH" dirty="0"/>
              <a:t>មូលដ្ឋានទិន្នន័យ (</a:t>
            </a:r>
            <a:r>
              <a:rPr lang="en-US" dirty="0"/>
              <a:t>Database Design)</a:t>
            </a:r>
            <a:r>
              <a:rPr lang="km-KH" dirty="0"/>
              <a:t>៖ រៀបចំគំនូសតាងទំនាក់ទំនងទិន្នន័យ (</a:t>
            </a:r>
            <a:r>
              <a:rPr lang="en-US" dirty="0"/>
              <a:t>ERD) </a:t>
            </a:r>
            <a:r>
              <a:rPr lang="km-KH" dirty="0"/>
              <a:t>ដើម្បីផ្ទុកទិន្នន័យបន្ទប់ ព័ត៌មានភ្ញៀវ និងប្រវត្តិប្រតិបត្តិការ។</a:t>
            </a:r>
          </a:p>
          <a:p>
            <a:r>
              <a:rPr lang="km-KH" dirty="0"/>
              <a:t>លំហូរទិន្នន័យ (</a:t>
            </a:r>
            <a:r>
              <a:rPr lang="en-US" dirty="0"/>
              <a:t>Process Flow)</a:t>
            </a:r>
            <a:r>
              <a:rPr lang="km-KH" dirty="0"/>
              <a:t>៖ បង្កើតគំនូសតាងលំហូរទិន្នន័យ (</a:t>
            </a:r>
            <a:r>
              <a:rPr lang="en-US" dirty="0"/>
              <a:t>Data Flow Diagram - DFD) </a:t>
            </a:r>
            <a:r>
              <a:rPr lang="km-KH" dirty="0"/>
              <a:t>ដើម្បីបង្ហាញពីដំណើរការនៃការកក់បន្ទប់ និងការបង់ប្រាក់។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AF63B4-31A7-0B68-1274-2B6567D17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3677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7" y="709941"/>
            <a:ext cx="5617532" cy="4513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ដំណាក់កាលទី៣</a:t>
            </a:r>
            <a:r>
              <a:rPr lang="en-US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:</a:t>
            </a:r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ការអភិវឌ្ឍន៍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Develop)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ABC6136-3FB6-3D1F-8EAE-F3AA04343517}"/>
              </a:ext>
            </a:extLst>
          </p:cNvPr>
          <p:cNvSpPr/>
          <p:nvPr/>
        </p:nvSpPr>
        <p:spPr>
          <a:xfrm>
            <a:off x="8840838" y="3391112"/>
            <a:ext cx="3860800" cy="3466888"/>
          </a:xfrm>
          <a:custGeom>
            <a:avLst/>
            <a:gdLst/>
            <a:ahLst/>
            <a:cxnLst/>
            <a:rect l="l" t="t" r="r" b="b"/>
            <a:pathLst>
              <a:path w="4553029" h="4114800">
                <a:moveTo>
                  <a:pt x="0" y="0"/>
                </a:moveTo>
                <a:lnTo>
                  <a:pt x="4553029" y="0"/>
                </a:lnTo>
                <a:lnTo>
                  <a:pt x="45530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41FB8-2476-78B2-6E98-85918EAF72BC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C5841FD-1876-99C3-2EE8-AE51ABF9A245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20AF8EC-DB64-3B45-76E9-C5ADCC5CC7DF}"/>
              </a:ext>
            </a:extLst>
          </p:cNvPr>
          <p:cNvSpPr txBox="1"/>
          <p:nvPr/>
        </p:nvSpPr>
        <p:spPr>
          <a:xfrm>
            <a:off x="942316" y="1837510"/>
            <a:ext cx="8544584" cy="370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pPr lvl="0"/>
            <a:r>
              <a:rPr lang="km-KH" dirty="0"/>
              <a:t>ជាការដំណាការអភិវឌ្ឍផ្នែកខាងមុខ (</a:t>
            </a:r>
            <a:r>
              <a:rPr lang="en-GB" dirty="0"/>
              <a:t>Frontend Development)</a:t>
            </a:r>
            <a:r>
              <a:rPr lang="km-KH" dirty="0"/>
              <a:t>៖ សរសេរកូដបង្កើតចំណុចប្រទាក់អ្នកប្រើប្រាស់ (</a:t>
            </a:r>
            <a:r>
              <a:rPr lang="en-GB" dirty="0"/>
              <a:t>UI) </a:t>
            </a:r>
            <a:r>
              <a:rPr lang="km-KH" dirty="0"/>
              <a:t>ដោយប្រើប្រាស់ </a:t>
            </a:r>
            <a:r>
              <a:rPr lang="en-GB" dirty="0" err="1"/>
              <a:t>React.js</a:t>
            </a:r>
            <a:r>
              <a:rPr lang="en-GB" dirty="0"/>
              <a:t>, HTML, </a:t>
            </a:r>
            <a:r>
              <a:rPr lang="km-KH" dirty="0"/>
              <a:t>និង </a:t>
            </a:r>
            <a:r>
              <a:rPr lang="en-GB" dirty="0"/>
              <a:t>Tailwind CSS </a:t>
            </a:r>
            <a:r>
              <a:rPr lang="km-KH" dirty="0"/>
              <a:t>ដើម្បីឲ្យប្រព័ន្ធមានសោភ័ណភាព និងដើរបានគ្រប់ទំហំអេក្រង់។</a:t>
            </a:r>
          </a:p>
          <a:p>
            <a:pPr lvl="0"/>
            <a:r>
              <a:rPr lang="km-KH" dirty="0"/>
              <a:t>ការអភិវឌ្ឍផ្នែកខាងក្រោយ (</a:t>
            </a:r>
            <a:r>
              <a:rPr lang="en-GB" dirty="0"/>
              <a:t>Backend Development)</a:t>
            </a:r>
            <a:r>
              <a:rPr lang="km-KH" dirty="0"/>
              <a:t>៖ ប្រើប្រាស់ </a:t>
            </a:r>
            <a:r>
              <a:rPr lang="en-GB" dirty="0"/>
              <a:t>PHP (Laravel Framework) </a:t>
            </a:r>
            <a:r>
              <a:rPr lang="km-KH" dirty="0"/>
              <a:t>ដើម្បីសរសេរកូដបញ្ជាដំណើរការទូទៅ ដូចជាការគ្រប់គ្រងទិន្នន័យភ្ញៀវ និងការកក់បន្ទប់។</a:t>
            </a:r>
          </a:p>
          <a:p>
            <a:pPr lvl="0"/>
            <a:r>
              <a:rPr lang="km-KH" dirty="0"/>
              <a:t>ការរៀបចំមូលដ្ឋានទិន្នន័យ (</a:t>
            </a:r>
            <a:r>
              <a:rPr lang="en-GB" dirty="0"/>
              <a:t>Database Implementation)</a:t>
            </a:r>
            <a:r>
              <a:rPr lang="km-KH" dirty="0"/>
              <a:t>៖ បង្កើតតារាងទិន្នន័យ (</a:t>
            </a:r>
            <a:r>
              <a:rPr lang="en-GB" dirty="0"/>
              <a:t>Tables) </a:t>
            </a:r>
            <a:r>
              <a:rPr lang="km-KH" dirty="0"/>
              <a:t>និងភ្ជាប់ទំនាក់ទំនងទិន្នន័យក្នុង </a:t>
            </a:r>
            <a:r>
              <a:rPr lang="en-GB" dirty="0"/>
              <a:t>MySQL </a:t>
            </a:r>
            <a:r>
              <a:rPr lang="km-KH" dirty="0"/>
              <a:t>សម្រាប់ផ្ទុកព័ត៌មានប្រព័ន្ធទាំងមូល។</a:t>
            </a:r>
          </a:p>
          <a:p>
            <a:pPr lvl="0"/>
            <a:r>
              <a:rPr lang="km-KH" dirty="0"/>
              <a:t>ការភ្ជាប់ប្រព័ន្ធកម្រិតខ្ពស់ (</a:t>
            </a:r>
            <a:r>
              <a:rPr lang="en-GB" dirty="0"/>
              <a:t>System Integrations)</a:t>
            </a:r>
            <a:r>
              <a:rPr lang="km-KH" dirty="0"/>
              <a:t>៖ សរសេរកូដភ្ជាប់ប្រព័ន្ធទូទាត់ប្រាក់ </a:t>
            </a:r>
            <a:r>
              <a:rPr lang="en-GB" dirty="0"/>
              <a:t>KHQR </a:t>
            </a:r>
            <a:r>
              <a:rPr lang="km-KH" dirty="0"/>
              <a:t>និងបង្កើតក្បួនដោះស្រាយគណនាការកក់លើសចំណុះ (</a:t>
            </a:r>
            <a:r>
              <a:rPr lang="en-GB" dirty="0"/>
              <a:t>Overbooking Optimization Engine)</a:t>
            </a:r>
            <a:r>
              <a:rPr lang="km-KH" dirty="0"/>
              <a:t>។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BE854-0D06-E3AE-00F8-3EEE8CBC2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6647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6" y="709941"/>
            <a:ext cx="6444384" cy="4513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ដំណាក់កាលទី៤</a:t>
            </a:r>
            <a:r>
              <a:rPr lang="en-US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:</a:t>
            </a:r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ការធ្វើការសាកល្បង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Testing)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E134A633-A817-D5B2-0977-5D00FEC2AF11}"/>
              </a:ext>
            </a:extLst>
          </p:cNvPr>
          <p:cNvSpPr/>
          <p:nvPr/>
        </p:nvSpPr>
        <p:spPr>
          <a:xfrm>
            <a:off x="6731875" y="3429000"/>
            <a:ext cx="3315887" cy="2671613"/>
          </a:xfrm>
          <a:custGeom>
            <a:avLst/>
            <a:gdLst/>
            <a:ahLst/>
            <a:cxnLst/>
            <a:rect l="l" t="t" r="r" b="b"/>
            <a:pathLst>
              <a:path w="4588372" h="3114357">
                <a:moveTo>
                  <a:pt x="0" y="0"/>
                </a:moveTo>
                <a:lnTo>
                  <a:pt x="4588372" y="0"/>
                </a:lnTo>
                <a:lnTo>
                  <a:pt x="4588372" y="3114357"/>
                </a:lnTo>
                <a:lnTo>
                  <a:pt x="0" y="31143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660244-E750-57D6-D4D7-7260830924BE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B11F6F19-9545-F8C2-E7DE-C754021E0325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637E1-FD3B-6A69-193A-537E9686C9DE}"/>
              </a:ext>
            </a:extLst>
          </p:cNvPr>
          <p:cNvSpPr txBox="1"/>
          <p:nvPr/>
        </p:nvSpPr>
        <p:spPr>
          <a:xfrm>
            <a:off x="942316" y="1837510"/>
            <a:ext cx="8544584" cy="2042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r>
              <a:rPr lang="km-KH" dirty="0"/>
              <a:t>ការសាកល្បងមុខងារប្រព័ន្ធ (</a:t>
            </a:r>
            <a:r>
              <a:rPr lang="en-US" dirty="0"/>
              <a:t>Functionality Testing)</a:t>
            </a:r>
            <a:r>
              <a:rPr lang="km-KH" dirty="0"/>
              <a:t>៖ ធ្វើការសាកល្បងដំណើរការកក់បន្ទប់ ការទូទាត់ប្រាក់ និងការកត់ត្រាទិន្នន័យ ដើម្បីធានាថាប្រព័ន្ធដំណើរការបានត្រឹមត្រូវ ១០០%។</a:t>
            </a:r>
          </a:p>
          <a:p>
            <a:r>
              <a:rPr lang="km-KH" dirty="0"/>
              <a:t>ការស្វែងរក និងជួសជុលកំហុស (</a:t>
            </a:r>
            <a:r>
              <a:rPr lang="en-US" dirty="0"/>
              <a:t>Bug Fixing)</a:t>
            </a:r>
            <a:r>
              <a:rPr lang="km-KH" dirty="0"/>
              <a:t>៖ ស្វែងរកចំណុចខ្វះខាត និងធ្វើការកែតម្រូវឱ្យបានរួចរាល់ មុននឹងដាក់ប្រព័ន្ធឱ្យសណ្ឋាគារប្រើប្រាស់ជាផ្លូវការ។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F6CB6-A63E-C1ED-D4A3-4F3FA4F1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9938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7" y="709941"/>
            <a:ext cx="5787072" cy="94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ដំណាក់កាលទី៥ៈ ជាការបង្ហ</a:t>
            </a:r>
            <a:r>
              <a:rPr lang="en-US" sz="2133" dirty="0" err="1">
                <a:latin typeface="Khmer OS Moul Light" panose="02000500000000000000" pitchFamily="2" charset="0"/>
                <a:cs typeface="Khmer OS Moul Light" panose="02000500000000000000" pitchFamily="2" charset="0"/>
              </a:rPr>
              <a:t>ោះ</a:t>
            </a:r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គេហទំព័រ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Deployment)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DA0E30-0AF7-1FB0-6FE9-5378EC868242}"/>
              </a:ext>
            </a:extLst>
          </p:cNvPr>
          <p:cNvGrpSpPr/>
          <p:nvPr/>
        </p:nvGrpSpPr>
        <p:grpSpPr>
          <a:xfrm>
            <a:off x="5470809" y="3515112"/>
            <a:ext cx="4934832" cy="2738056"/>
            <a:chOff x="5351380" y="5137052"/>
            <a:chExt cx="5710664" cy="346132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6D977A-8D3D-6518-6011-D7809ACC1805}"/>
                </a:ext>
              </a:extLst>
            </p:cNvPr>
            <p:cNvSpPr/>
            <p:nvPr/>
          </p:nvSpPr>
          <p:spPr>
            <a:xfrm>
              <a:off x="5351380" y="5137052"/>
              <a:ext cx="4131890" cy="3461320"/>
            </a:xfrm>
            <a:custGeom>
              <a:avLst/>
              <a:gdLst/>
              <a:ahLst/>
              <a:cxnLst/>
              <a:rect l="l" t="t" r="r" b="b"/>
              <a:pathLst>
                <a:path w="5233450" h="4114800">
                  <a:moveTo>
                    <a:pt x="0" y="0"/>
                  </a:moveTo>
                  <a:lnTo>
                    <a:pt x="5233450" y="0"/>
                  </a:lnTo>
                  <a:lnTo>
                    <a:pt x="523345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DF0E5AA4-E8D8-3481-65EE-1149F315EBDB}"/>
                </a:ext>
              </a:extLst>
            </p:cNvPr>
            <p:cNvSpPr/>
            <p:nvPr/>
          </p:nvSpPr>
          <p:spPr>
            <a:xfrm>
              <a:off x="8991600" y="5818634"/>
              <a:ext cx="2070444" cy="2098156"/>
            </a:xfrm>
            <a:custGeom>
              <a:avLst/>
              <a:gdLst/>
              <a:ahLst/>
              <a:cxnLst/>
              <a:rect l="l" t="t" r="r" b="b"/>
              <a:pathLst>
                <a:path w="2622424" h="2494278">
                  <a:moveTo>
                    <a:pt x="0" y="0"/>
                  </a:moveTo>
                  <a:lnTo>
                    <a:pt x="2622424" y="0"/>
                  </a:lnTo>
                  <a:lnTo>
                    <a:pt x="2622424" y="2494278"/>
                  </a:lnTo>
                  <a:lnTo>
                    <a:pt x="0" y="2494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 sz="120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FC6C70B-F052-5C79-1F91-85E5E0780B6E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C041F0F6-EF34-38CF-5536-75060697ED4F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5BF70-68B7-3A9E-B71A-1730947C8533}"/>
              </a:ext>
            </a:extLst>
          </p:cNvPr>
          <p:cNvSpPr txBox="1"/>
          <p:nvPr/>
        </p:nvSpPr>
        <p:spPr>
          <a:xfrm>
            <a:off x="942316" y="1837510"/>
            <a:ext cx="8544584" cy="2042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pPr algn="just"/>
            <a:r>
              <a:rPr lang="km-KH" dirty="0"/>
              <a:t>ការដំឡើងប្រព័ន្ធលើម៉ាស៊ីនមេ (</a:t>
            </a:r>
            <a:r>
              <a:rPr lang="en-US" dirty="0"/>
              <a:t>Server Setup)</a:t>
            </a:r>
            <a:r>
              <a:rPr lang="km-KH" dirty="0"/>
              <a:t>៖ រៀបចំដំឡើងប្រព័ន្ធ (</a:t>
            </a:r>
            <a:r>
              <a:rPr lang="en-US" dirty="0"/>
              <a:t>Web Server &amp; Database) </a:t>
            </a:r>
            <a:r>
              <a:rPr lang="km-KH" dirty="0"/>
              <a:t>ឱ្យដំណើរការផ្ទាល់នៅក្នុងសណ្ឋាគារ ដើម្បីធានាសុវត្ថិភាពទិន្នន័យ។</a:t>
            </a:r>
          </a:p>
          <a:p>
            <a:pPr algn="just"/>
            <a:r>
              <a:rPr lang="km-KH" dirty="0"/>
              <a:t>ការដាក់ឱ្យប្រើប្រាស់ផ្លូវការ (</a:t>
            </a:r>
            <a:r>
              <a:rPr lang="en-US" dirty="0"/>
              <a:t>Live Launch)</a:t>
            </a:r>
            <a:r>
              <a:rPr lang="km-KH" dirty="0"/>
              <a:t>៖ បើកដំណើរការប្រព័ន្ធជាផ្លូវការជូនថ្នាក់គ្រប់គ្រង បុគ្គលិក និងភ្ញៀវ ដើម្បីចាប់ផ្តើមប្រើប្រាស់ក្នុងការងារប្រចាំថ្ងៃ។</a:t>
            </a:r>
          </a:p>
          <a:p>
            <a:pPr algn="just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FF21E-7486-4F12-BAE0-5B764F7F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57447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6" y="713476"/>
            <a:ext cx="5540327" cy="94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ដំណាក់កាលទី៦ៈ ការត្រួតពិនិត្យឡើងវិញ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Review)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75843E9-EFD9-762E-4C95-612545EE3234}"/>
              </a:ext>
            </a:extLst>
          </p:cNvPr>
          <p:cNvSpPr/>
          <p:nvPr/>
        </p:nvSpPr>
        <p:spPr>
          <a:xfrm>
            <a:off x="6490164" y="3630681"/>
            <a:ext cx="3882527" cy="2622487"/>
          </a:xfrm>
          <a:custGeom>
            <a:avLst/>
            <a:gdLst/>
            <a:ahLst/>
            <a:cxnLst/>
            <a:rect l="l" t="t" r="r" b="b"/>
            <a:pathLst>
              <a:path w="4604590" h="2083577">
                <a:moveTo>
                  <a:pt x="0" y="0"/>
                </a:moveTo>
                <a:lnTo>
                  <a:pt x="4604590" y="0"/>
                </a:lnTo>
                <a:lnTo>
                  <a:pt x="4604590" y="2083577"/>
                </a:lnTo>
                <a:lnTo>
                  <a:pt x="0" y="2083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87EED-F204-C43C-F766-F29FDE1B806D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5DCF8C67-3EC5-5C9E-28D9-2314DAA05377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23199-C4D1-FAEF-007B-157731B76199}"/>
              </a:ext>
            </a:extLst>
          </p:cNvPr>
          <p:cNvSpPr txBox="1"/>
          <p:nvPr/>
        </p:nvSpPr>
        <p:spPr>
          <a:xfrm>
            <a:off x="942316" y="1837510"/>
            <a:ext cx="8544584" cy="16273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pPr algn="just"/>
            <a:r>
              <a:rPr lang="km-KH" dirty="0"/>
              <a:t>ការប្រមូលមតិកែលម្អ (</a:t>
            </a:r>
            <a:r>
              <a:rPr lang="en-GB" dirty="0"/>
              <a:t>Feedback Collection)</a:t>
            </a:r>
            <a:r>
              <a:rPr lang="km-KH" dirty="0"/>
              <a:t>៖ តាមដានការប្រើប្រាស់ជាក់ស្តែង និងប្រមូលមតិយោបល់ពីបុគ្គលិក និងភ្ញៀវ ដើម្បីវាយតម្លៃប្រសិទ្ធភាពប្រព័ន្ធ។</a:t>
            </a:r>
          </a:p>
          <a:p>
            <a:pPr algn="just"/>
            <a:r>
              <a:rPr lang="km-KH" dirty="0"/>
              <a:t>ការថែទាំ និងអភិវឌ្ឍបន្ត (</a:t>
            </a:r>
            <a:r>
              <a:rPr lang="en-GB" dirty="0"/>
              <a:t>Maintenance &amp; Updates)</a:t>
            </a:r>
            <a:r>
              <a:rPr lang="km-KH" dirty="0"/>
              <a:t>៖ ធ្វើការកែសម្រួលបន្ថែម និងរៀបចំផែនការអភិវឌ្ឍន៍មុខងារថ្មីៗ ទៅតាមតម្រូវការចាំបាច់របស់សណ្ឋាគារ។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F06C7-F9A7-397A-478C-B1473D9E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544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D2106204-3E0C-442A-AFC3-EC6B462DE561}"/>
              </a:ext>
            </a:extLst>
          </p:cNvPr>
          <p:cNvSpPr txBox="1"/>
          <p:nvPr/>
        </p:nvSpPr>
        <p:spPr>
          <a:xfrm>
            <a:off x="744356" y="709941"/>
            <a:ext cx="5845127" cy="943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133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ដំណាក់កាលទី៧ៈ ការដាក់ដំណើរការជាផ្លូវការ</a:t>
            </a:r>
            <a:r>
              <a:rPr lang="en-US" sz="2133" b="1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US" sz="2133" b="1" dirty="0">
                <a:latin typeface="Limon NU S1" panose="02000500000000000000" pitchFamily="2" charset="0"/>
                <a:cs typeface="Limon NU S1" panose="02000500000000000000" pitchFamily="2" charset="0"/>
              </a:rPr>
              <a:t>Launch)</a:t>
            </a:r>
            <a:endParaRPr lang="en-US" sz="2133" b="1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D804E354-85B7-BF2F-E947-41F5829D7C88}"/>
              </a:ext>
            </a:extLst>
          </p:cNvPr>
          <p:cNvSpPr/>
          <p:nvPr/>
        </p:nvSpPr>
        <p:spPr>
          <a:xfrm>
            <a:off x="6579096" y="3464879"/>
            <a:ext cx="4067128" cy="3234436"/>
          </a:xfrm>
          <a:custGeom>
            <a:avLst/>
            <a:gdLst/>
            <a:ahLst/>
            <a:cxnLst/>
            <a:rect l="l" t="t" r="r" b="b"/>
            <a:pathLst>
              <a:path w="4555475" h="3126194">
                <a:moveTo>
                  <a:pt x="0" y="0"/>
                </a:moveTo>
                <a:lnTo>
                  <a:pt x="4555474" y="0"/>
                </a:lnTo>
                <a:lnTo>
                  <a:pt x="4555474" y="3126195"/>
                </a:lnTo>
                <a:lnTo>
                  <a:pt x="0" y="3126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E86C1-304C-B761-6042-2DA918FAEDC6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1FCC48CA-1D72-8B72-A136-30EAB6FA6B9F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7F4C0-2FCD-A4EC-A633-FDE446C77104}"/>
              </a:ext>
            </a:extLst>
          </p:cNvPr>
          <p:cNvSpPr txBox="1"/>
          <p:nvPr/>
        </p:nvSpPr>
        <p:spPr>
          <a:xfrm>
            <a:off x="942316" y="1837510"/>
            <a:ext cx="8544584" cy="16273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pPr algn="just"/>
            <a:r>
              <a:rPr lang="km-KH" dirty="0"/>
              <a:t>ការបណ្តុះបណ្តាលបុគ្គលិក (</a:t>
            </a:r>
            <a:r>
              <a:rPr lang="en-GB" dirty="0"/>
              <a:t>Staff Training)</a:t>
            </a:r>
            <a:r>
              <a:rPr lang="km-KH" dirty="0"/>
              <a:t>៖ ធ្វើការណែនាំ និងបង្រៀនបុគ្គលិកសណ្ឋាគារពីរបៀបប្រើប្រាស់ប្រព័ន្ធថ្មីនេះ ដើម្បីធានាភាពរលូនក្នុងការងារ។</a:t>
            </a:r>
          </a:p>
          <a:p>
            <a:pPr algn="just"/>
            <a:r>
              <a:rPr lang="km-KH" dirty="0"/>
              <a:t>ការប្រគល់ប្រព័ន្ធ (</a:t>
            </a:r>
            <a:r>
              <a:rPr lang="en-GB" dirty="0"/>
              <a:t>System Handover)</a:t>
            </a:r>
            <a:r>
              <a:rPr lang="km-KH" dirty="0"/>
              <a:t>៖ ប្រគល់សិទ្ធិគ្រប់គ្រងទាំងស្រុងជូនសណ្ឋាគារ និងផ្លាស់ប្តូរការកត់ត្រាពីក្រដាស មកប្រើប្រាស់ប្រព័ន្ធឌីជីថលនេះទាំងស្រុង។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D11980-161A-07B7-F65C-77E5741A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6495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0551-D8F8-3785-2E47-B5C1C189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A4B5FB-7252-6B8F-C7C2-25FBF41B2554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DACF27-0059-8B51-1B0F-582AF83DB0CF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រចនាសម្ព័ន្ធនៃការសិក្សា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A5716252-5F6A-60BE-4336-AF263FA85B25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0DB861-7878-112E-FE43-6E0585115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161" y="1851259"/>
            <a:ext cx="8671589" cy="433442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73883C-C0DE-FDAA-EF3C-1B88E0AF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3667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E0FF-0F5E-4DA0-717C-27672426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7B8B75-52A0-1C41-A484-2BD87CD29C2C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3A0E1-AFC1-AF68-CB5A-77A6B4760F06}"/>
              </a:ext>
            </a:extLst>
          </p:cNvPr>
          <p:cNvSpPr txBox="1"/>
          <p:nvPr/>
        </p:nvSpPr>
        <p:spPr>
          <a:xfrm>
            <a:off x="1875943" y="379569"/>
            <a:ext cx="843980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Limon NU R1" panose="02000500000000000000" pitchFamily="2" charset="0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តារាងពេលវេលាសម្រាប់ការសិក្សាស្រាវជ្រាវ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DF566234-85B1-F338-9957-D6BE27F1B8CE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8A6415-5941-1E2D-C952-C20284831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040" y="1863659"/>
            <a:ext cx="860171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DCAD49-656C-D2E2-81EB-96DC03CF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1208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22DF-55D9-B537-4A64-068459B3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60360-2804-2E31-1FDB-433E5E070F99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299C9-0367-317C-E364-C75805A9BD45}"/>
              </a:ext>
            </a:extLst>
          </p:cNvPr>
          <p:cNvSpPr txBox="1"/>
          <p:nvPr/>
        </p:nvSpPr>
        <p:spPr>
          <a:xfrm>
            <a:off x="1875943" y="379569"/>
            <a:ext cx="843980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ជំពូកទី ៤</a:t>
            </a:r>
            <a:r>
              <a:rPr lang="en-US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:</a:t>
            </a:r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ការវិភាគ ការគ្រោង និងការអនុវត្ត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pic>
        <p:nvPicPr>
          <p:cNvPr id="11" name="Picture 10" descr="A logo on a yellow background&#10;&#10;Description automatically generated">
            <a:extLst>
              <a:ext uri="{FF2B5EF4-FFF2-40B4-BE49-F238E27FC236}">
                <a16:creationId xmlns:a16="http://schemas.microsoft.com/office/drawing/2014/main" id="{5481B32C-1B6A-A63B-2D61-37A4BECE74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750367" y="2137687"/>
            <a:ext cx="2690958" cy="39779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220CA4-70D3-12A7-6BA5-32C1CF0F3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8194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FE69-D825-5E85-FF99-6919897B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BA7F9C-2964-A4E5-F224-9EBCB96FE3DA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60E19-FC07-F959-F6A0-F207C16632F2}"/>
              </a:ext>
            </a:extLst>
          </p:cNvPr>
          <p:cNvSpPr txBox="1"/>
          <p:nvPr/>
        </p:nvSpPr>
        <p:spPr>
          <a:xfrm>
            <a:off x="826585" y="428671"/>
            <a:ext cx="98196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ការវាយតម្លៃលើប្រព័ន្ធបច្ចុប្បន្ន និងប្រព័ន្ធសំណើ</a:t>
            </a:r>
            <a:r>
              <a:rPr lang="en-GB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BC53E336-2A32-BBC0-03AF-D5FDA4C8CA00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B7A6A6-CD52-C952-450A-D2BF03B30712}"/>
              </a:ext>
            </a:extLst>
          </p:cNvPr>
          <p:cNvSpPr txBox="1"/>
          <p:nvPr/>
        </p:nvSpPr>
        <p:spPr>
          <a:xfrm>
            <a:off x="942316" y="1837510"/>
            <a:ext cx="6187533" cy="12464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ប្រព័ន្ធបច្ចុប្បន្ន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 (Current/Old System)៖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ប្រើប្រាស់សៀវភៅ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ឬ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 Excel </a:t>
            </a: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កត់ត្រាដោយដៃ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ងាយបាត់បង់ទិន្នន័យ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ដំណើរការកក់បន្ទប់មានភាពយឺតយ៉ាវ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និងងាយមានបញ្ហាកក់ជាន់គ្នា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ការទូទាត់និងការបូកសរុបចំណូលធ្វើឡើងដោយដៃ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 </a:t>
            </a:r>
            <a:r>
              <a:rPr lang="en-GB" dirty="0" err="1">
                <a:latin typeface="Limon NU S1" panose="02000500000000000000" pitchFamily="2" charset="77"/>
                <a:cs typeface="Limon NU S1" panose="02000500000000000000" pitchFamily="2" charset="77"/>
              </a:rPr>
              <a:t>ចំណាយពេលយូរ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។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E48820-006F-A782-BCED-73FE9EFA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44503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49CA-9448-3F81-FD1D-61B774CB7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2A24893-5A40-3BED-6628-4EA975518321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C4814-6D21-FB84-0658-D1C69FC344DC}"/>
              </a:ext>
            </a:extLst>
          </p:cNvPr>
          <p:cNvSpPr txBox="1"/>
          <p:nvPr/>
        </p:nvSpPr>
        <p:spPr>
          <a:xfrm>
            <a:off x="1463041" y="379569"/>
            <a:ext cx="92656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4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ការវាយតម្លៃលើប្រព័ន្ធបច្ចុប្បន្ន និងប្រព័ន្ធសំណើ</a:t>
            </a:r>
            <a:r>
              <a:rPr lang="en-US" sz="24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(</a:t>
            </a:r>
            <a:r>
              <a:rPr lang="km-KH" sz="24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ត</a:t>
            </a:r>
            <a:r>
              <a:rPr lang="en-US" sz="24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)</a:t>
            </a:r>
            <a:r>
              <a:rPr lang="en-GB" sz="24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</a:t>
            </a:r>
            <a:endParaRPr lang="en-US" sz="2400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CED85C91-93A9-CFC1-F7FB-98E0DA159C21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A72196-01BB-4EB2-CB7C-D901DDDC2A13}"/>
              </a:ext>
            </a:extLst>
          </p:cNvPr>
          <p:cNvSpPr txBox="1"/>
          <p:nvPr/>
        </p:nvSpPr>
        <p:spPr>
          <a:xfrm>
            <a:off x="942316" y="1837510"/>
            <a:ext cx="6187533" cy="15234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0"/>
                <a:ea typeface="Bayon"/>
                <a:cs typeface="Limon NU S1" panose="02000500000000000000" pitchFamily="2" charset="0"/>
              </a:defRPr>
            </a:lvl1pPr>
          </a:lstStyle>
          <a:p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ប្រព័ន្ធសំណើថ្មី (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Proposed/New System)</a:t>
            </a:r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៖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ប្រព័ន្ធឌីជីថល (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Web-based) </a:t>
            </a:r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រក្សាទិន្នន័យបានសុវត្ថិភាពខ្ពស់។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ភ្ញៀវអាចកក់បន្ទប់អនឡាញ និងទូទាត់ប្រាក់ (</a:t>
            </a:r>
            <a:r>
              <a:rPr lang="en-GB" dirty="0">
                <a:latin typeface="Limon NU S1" panose="02000500000000000000" pitchFamily="2" charset="77"/>
                <a:cs typeface="Limon NU S1" panose="02000500000000000000" pitchFamily="2" charset="77"/>
              </a:rPr>
              <a:t>KHQR) </a:t>
            </a:r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បានយ៉ាងរហ័ស។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m-KH" dirty="0">
                <a:latin typeface="Limon NU S1" panose="02000500000000000000" pitchFamily="2" charset="77"/>
                <a:cs typeface="Limon NU S1" panose="02000500000000000000" pitchFamily="2" charset="77"/>
              </a:rPr>
              <a:t>មានផ្ទាំងរបាយការណ៍ស្វ័យប្រវត្តិ ងាយស្រួលគ្រប់គ្រងចំណូល និងស្ថានភាពបន្ទប់។</a:t>
            </a:r>
          </a:p>
        </p:txBody>
      </p:sp>
      <p:pic>
        <p:nvPicPr>
          <p:cNvPr id="7" name="Picture 6" descr="01_homepage.png">
            <a:extLst>
              <a:ext uri="{FF2B5EF4-FFF2-40B4-BE49-F238E27FC236}">
                <a16:creationId xmlns:a16="http://schemas.microsoft.com/office/drawing/2014/main" id="{7565426C-789A-4D76-7BEB-0144351AD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530" y="1714587"/>
            <a:ext cx="3267645" cy="2100629"/>
          </a:xfrm>
          <a:prstGeom prst="rect">
            <a:avLst/>
          </a:prstGeom>
        </p:spPr>
      </p:pic>
      <p:pic>
        <p:nvPicPr>
          <p:cNvPr id="9" name="Picture 8" descr="07_admin_dashboard.png">
            <a:extLst>
              <a:ext uri="{FF2B5EF4-FFF2-40B4-BE49-F238E27FC236}">
                <a16:creationId xmlns:a16="http://schemas.microsoft.com/office/drawing/2014/main" id="{F66C925A-1E45-683B-2AE3-D0E7497E46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172" y="4312575"/>
            <a:ext cx="3369110" cy="2165856"/>
          </a:xfrm>
          <a:prstGeom prst="rect">
            <a:avLst/>
          </a:prstGeom>
        </p:spPr>
      </p:pic>
      <p:pic>
        <p:nvPicPr>
          <p:cNvPr id="10" name="Picture 9" descr="14_reception_dashboard.png">
            <a:extLst>
              <a:ext uri="{FF2B5EF4-FFF2-40B4-BE49-F238E27FC236}">
                <a16:creationId xmlns:a16="http://schemas.microsoft.com/office/drawing/2014/main" id="{B62CE37C-46CD-417C-E006-BECB932E9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883" y="4232879"/>
            <a:ext cx="3366842" cy="2164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71CC1C3-5D66-A4DE-5EC6-3F35F8AEEF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7680" y="4312575"/>
            <a:ext cx="3657600" cy="206882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80A5B8-CA9D-5F06-137E-38E35279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27507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DEBD-5D03-9C3E-B020-1EF6EFB6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E2EB45-E1B6-3AC8-93B0-4FCA4502A439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EC8A3-0C13-A09B-EC8D-59697A4F1304}"/>
              </a:ext>
            </a:extLst>
          </p:cNvPr>
          <p:cNvSpPr txBox="1"/>
          <p:nvPr/>
        </p:nvSpPr>
        <p:spPr>
          <a:xfrm>
            <a:off x="1463041" y="379569"/>
            <a:ext cx="9265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លំហូរការងារនៃប្រព័ន្ធបច្ចុប្បន្ន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4D834FFE-1541-ABEC-8BBF-35F55CA14287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507B0B-6777-A09D-2684-9D3F69B11EC2}"/>
              </a:ext>
            </a:extLst>
          </p:cNvPr>
          <p:cNvSpPr txBox="1"/>
          <p:nvPr/>
        </p:nvSpPr>
        <p:spPr>
          <a:xfrm>
            <a:off x="1025843" y="1735574"/>
            <a:ext cx="6097904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23" indent="-457223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>
                <a:latin typeface="Limon NU S1" panose="02000500000000000000" pitchFamily="2" charset="77"/>
                <a:ea typeface="Bayon"/>
                <a:cs typeface="Limon NU S1" panose="02000500000000000000" pitchFamily="2" charset="77"/>
              </a:defRPr>
            </a:lvl1pPr>
            <a:lvl2pPr marL="742950" lvl="1" indent="-285750">
              <a:buFont typeface="Arial" panose="020B0604020202020204" pitchFamily="34" charset="0"/>
              <a:buChar char="•"/>
              <a:defRPr>
                <a:latin typeface="Limon NU S1" panose="02000500000000000000" pitchFamily="2" charset="77"/>
                <a:cs typeface="Limon NU S1" panose="02000500000000000000" pitchFamily="2" charset="77"/>
              </a:defRPr>
            </a:lvl2pPr>
          </a:lstStyle>
          <a:p>
            <a:r>
              <a:rPr lang="km-KH" dirty="0"/>
              <a:t>លំហូរការងារបច្ចុប្បន្ននៃការសិក្សា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55AEB2E-B8F0-1239-77A0-A0395C985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028" y="2147240"/>
            <a:ext cx="4544772" cy="410551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61BE9-A8ED-6F7E-9226-248196741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66997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51B3-0E58-3F93-D44C-C362EAE4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19EBB2-9B69-674B-7067-E55BAD4C9ACD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CAD89-364C-A6EE-EBFB-0C6D40839410}"/>
              </a:ext>
            </a:extLst>
          </p:cNvPr>
          <p:cNvSpPr txBox="1"/>
          <p:nvPr/>
        </p:nvSpPr>
        <p:spPr>
          <a:xfrm>
            <a:off x="1463041" y="379569"/>
            <a:ext cx="9265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លំហូរទិន្នន័យនៃប្រព័ន្ធសំណើ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EEF0B4EA-8308-6BC1-DE88-079E500BB0B5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56890-3966-1C07-CCDA-207D0016007F}"/>
              </a:ext>
            </a:extLst>
          </p:cNvPr>
          <p:cNvSpPr txBox="1"/>
          <p:nvPr/>
        </p:nvSpPr>
        <p:spPr>
          <a:xfrm>
            <a:off x="731520" y="17719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1800" dirty="0">
                <a:latin typeface="Limon NU S1" panose="02000500000000000000" pitchFamily="2" charset="0"/>
                <a:cs typeface="Limon NU S1" panose="02000500000000000000" pitchFamily="2" charset="0"/>
              </a:rPr>
              <a:t>Context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EDCA8-9F76-CF0A-7ED2-F6BE93FA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411" y="2500824"/>
            <a:ext cx="4913676" cy="34051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9C1143-4913-45EF-D223-F6FA08479886}"/>
              </a:ext>
            </a:extLst>
          </p:cNvPr>
          <p:cNvSpPr txBox="1"/>
          <p:nvPr/>
        </p:nvSpPr>
        <p:spPr>
          <a:xfrm>
            <a:off x="731520" y="2141286"/>
            <a:ext cx="60960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</a:lstStyle>
          <a:p>
            <a:r>
              <a:rPr lang="km-KH" dirty="0"/>
              <a:t>ក្រាមនេះបង្ហាញពីទិដ្ឋភាពជារួមនៃប្រព័ន្ធគ្រប់គ្រងការកក់សណ្ឋាគារ (</a:t>
            </a:r>
            <a:r>
              <a:rPr lang="en-US" dirty="0"/>
              <a:t>Hotel Booking Operation System) </a:t>
            </a:r>
            <a:r>
              <a:rPr lang="km-KH" dirty="0"/>
              <a:t>និងទំនាក់ទំនងជាមួយតួអង្គខាងក្រៅ៖</a:t>
            </a:r>
            <a:endParaRPr lang="en-GB" dirty="0"/>
          </a:p>
          <a:p>
            <a:r>
              <a:rPr lang="km-KH" dirty="0"/>
              <a:t>ភ្ញៀវ (</a:t>
            </a:r>
            <a:r>
              <a:rPr lang="en-US" dirty="0"/>
              <a:t>Guest): </a:t>
            </a:r>
            <a:r>
              <a:rPr lang="km-KH" dirty="0"/>
              <a:t>អាចធ្វើការកក់បន្ទប់ដោយខ្លួនឯង បង់ប្រាក់ ទទួលវិក្កយបត្រ និងផ្ញើសំណើឬពាក្យតម្អូញពេលកំពុងស្នាក់នៅ។</a:t>
            </a:r>
            <a:endParaRPr lang="en-GB" dirty="0"/>
          </a:p>
          <a:p>
            <a:r>
              <a:rPr lang="km-KH" dirty="0"/>
              <a:t>អ្នកទទួលភ្ញៀវ (</a:t>
            </a:r>
            <a:r>
              <a:rPr lang="en-US" dirty="0"/>
              <a:t>Receptionist): </a:t>
            </a:r>
            <a:r>
              <a:rPr lang="km-KH" dirty="0"/>
              <a:t>ទទួលបន្ទុកធ្វើ </a:t>
            </a:r>
            <a:r>
              <a:rPr lang="en-US" dirty="0"/>
              <a:t>Check-in </a:t>
            </a:r>
            <a:r>
              <a:rPr lang="km-KH" dirty="0"/>
              <a:t>និង </a:t>
            </a:r>
            <a:r>
              <a:rPr lang="en-US" dirty="0"/>
              <a:t>Check-out </a:t>
            </a:r>
            <a:r>
              <a:rPr lang="km-KH" dirty="0"/>
              <a:t>ពិនិត្យព័ត៌មានការកក់ និងអាចធ្វើការកក់បន្ទប់ជំនួសភ្ញៀវដែលមកផ្ទាល់ (</a:t>
            </a:r>
            <a:r>
              <a:rPr lang="en-US" dirty="0"/>
              <a:t>Walk-in guests)</a:t>
            </a:r>
            <a:r>
              <a:rPr lang="km-KH" dirty="0"/>
              <a:t>។ ពួកគេក៏ទទួលបានការជូនដំណឹងពីប្រព័ន្ធផងដែរ។</a:t>
            </a:r>
            <a:endParaRPr lang="en-GB" dirty="0"/>
          </a:p>
          <a:p>
            <a:r>
              <a:rPr lang="km-KH" dirty="0"/>
              <a:t>អ្នកគ្រប់គ្រង (</a:t>
            </a:r>
            <a:r>
              <a:rPr lang="en-US" dirty="0"/>
              <a:t>Admin): </a:t>
            </a:r>
            <a:r>
              <a:rPr lang="km-KH" dirty="0"/>
              <a:t>អាចគ្រប់គ្រងបន្ទប់ គ្រប់គ្រងគណនីអ្នកប្រើប្រាស់ និងទាញយករបាយការណ៍ចំណូលផ្សេងៗពីប្រព័ន្ធ។</a:t>
            </a:r>
            <a:endParaRPr lang="en-GB" dirty="0"/>
          </a:p>
          <a:p>
            <a:r>
              <a:rPr lang="km-KH" dirty="0"/>
              <a:t>ច្រកទូទាត់ប្រាក់ (</a:t>
            </a:r>
            <a:r>
              <a:rPr lang="en-US" dirty="0"/>
              <a:t>Payment Gateway): </a:t>
            </a:r>
            <a:r>
              <a:rPr lang="km-KH" dirty="0"/>
              <a:t>ទទួលការបង់ប្រាក់ពីភ្ញៀវ និងបញ្ជូនទិន្នន័យនៃការទូទាត់ប្រាក់ត្រឡប់មកប្រព័ន្ធវិញ។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D859D-7848-649C-EB03-4787B4D58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17236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8DB60-3719-250D-71AC-C5EA9544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1530CC-2CE6-F020-42F9-1DE6F76B0A3E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B4AF9-EE07-90D9-1629-8CB433FFE42C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 Level 0 </a:t>
            </a:r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នៃប្រព័ន្ធសំណើរទាំងមូល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6AE6736E-0083-D7B9-5EE6-706D2E61B59F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487246-8A0E-8076-755D-C9EA01C69D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7741"/>
          <a:stretch>
            <a:fillRect/>
          </a:stretch>
        </p:blipFill>
        <p:spPr>
          <a:xfrm>
            <a:off x="426720" y="1485939"/>
            <a:ext cx="6022673" cy="46997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512CA9-A59F-F364-C178-C6A2850295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1337"/>
          <a:stretch>
            <a:fillRect/>
          </a:stretch>
        </p:blipFill>
        <p:spPr>
          <a:xfrm>
            <a:off x="6449393" y="3233356"/>
            <a:ext cx="5515045" cy="267261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78FCA0-7BA5-8044-0A6D-3D7E2B24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3892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946931-49B9-B7F0-A13E-4B26659E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503" y="1620143"/>
            <a:ext cx="7574156" cy="49124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ED8B5-48B0-F40D-5089-2C80A22E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169CF5-B1C4-8FE2-A17E-1B5B2607C070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3A2FC-A6BC-897F-48D5-92DBE428D1EE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Diagram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5244CBA2-FA39-66A9-BC10-45B0AD6B4EE7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69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8D22F-A0C0-C38C-B48A-3339BA120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094CC3-C99E-869C-35D5-68B9F780A368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94AEA-A464-A250-94C6-B1069562C5A4}"/>
              </a:ext>
            </a:extLst>
          </p:cNvPr>
          <p:cNvSpPr txBox="1"/>
          <p:nvPr/>
        </p:nvSpPr>
        <p:spPr>
          <a:xfrm>
            <a:off x="178369" y="476845"/>
            <a:ext cx="11834956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28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ជំពូកទី ៥</a:t>
            </a:r>
            <a:r>
              <a:rPr lang="en-US" sz="28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:</a:t>
            </a:r>
            <a:r>
              <a:rPr lang="km-KH" sz="28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 សេចក្តីសង្ខេប សេចក្តីសន្និដ្ឋាន និងកាផ្តល់អនុសាសន៍</a:t>
            </a:r>
            <a:endParaRPr lang="en-US" sz="2800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pic>
        <p:nvPicPr>
          <p:cNvPr id="11" name="Picture 10" descr="A logo on a yellow background&#10;&#10;Description automatically generated">
            <a:extLst>
              <a:ext uri="{FF2B5EF4-FFF2-40B4-BE49-F238E27FC236}">
                <a16:creationId xmlns:a16="http://schemas.microsoft.com/office/drawing/2014/main" id="{85020643-D0E2-8E03-CBE1-DEE32E0AB7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750367" y="2137687"/>
            <a:ext cx="2690958" cy="39779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ED0EB-ABAD-D2D4-46B9-F1F9450F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58242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7B26B-CCB5-D36E-FCB3-81146B06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34A097-955D-B037-EC3F-32E9F5E81157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AB5A05-950F-2CA9-32B7-86A5C28BB2B4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សេចក្តីសង្ខេប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8A3EC242-ED38-BBBE-C280-C7EBE972F5F7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1FD70-54FE-81F2-6BF2-57B4507AC902}"/>
              </a:ext>
            </a:extLst>
          </p:cNvPr>
          <p:cNvSpPr txBox="1"/>
          <p:nvPr/>
        </p:nvSpPr>
        <p:spPr>
          <a:xfrm>
            <a:off x="845545" y="1651506"/>
            <a:ext cx="879721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</a:lstStyle>
          <a:p>
            <a:r>
              <a:rPr lang="km-KH" dirty="0"/>
              <a:t>គម្រោងនេះបង្កើតប្រព័ន្ធកក់សណ្ឋាគារតាម </a:t>
            </a:r>
            <a:r>
              <a:rPr lang="en-GB" dirty="0"/>
              <a:t>Web </a:t>
            </a:r>
            <a:r>
              <a:rPr lang="km-KH" dirty="0"/>
              <a:t>ដើម្បីជួយដោះស្រាយបញ្ហាការកត់ត្រាដោយដៃ ការកក់ជាន់គ្នា និងការគ្រប់គ្រងដែលមិនមានប្រសិទ្ធភាព។</a:t>
            </a:r>
          </a:p>
          <a:p>
            <a:r>
              <a:rPr lang="km-KH" dirty="0"/>
              <a:t>ប្រព័ន្ធអនុញ្ញាតឱ្យភ្ញៀវកក់បន្ទប់ និងបង់ប្រាក់តាមអនឡាញ ខណៈបុគ្គលិកអាចគ្រប់គ្រងបន្ទប់ និងការកក់បានងាយស្រួល។</a:t>
            </a:r>
          </a:p>
          <a:p>
            <a:r>
              <a:rPr lang="km-KH" dirty="0"/>
              <a:t>ប្រព័ន្ធគាំទារ </a:t>
            </a:r>
            <a:r>
              <a:rPr lang="en-GB" dirty="0"/>
              <a:t>Check-in, Check-out, </a:t>
            </a:r>
            <a:r>
              <a:rPr lang="km-KH" dirty="0"/>
              <a:t>ការគ្រប់គ្រងបន្ទប់ និងរបាយការណ៍ ដើម្បីបង្កើនប្រសិទ្ធភាពការងារ។</a:t>
            </a:r>
          </a:p>
          <a:p>
            <a:r>
              <a:rPr lang="km-KH" dirty="0"/>
              <a:t>ជារួម ប្រព័ន្ធនេះជួយកាត់បន្ថយកំហុស សន្សំពេលវេលា និងធ្វើឱ្យការគ្រប់គ្រងសណ្ឋាគារកាន់តែមានប្រសិទ្ធភាព។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6EA60A-6FE2-F3BF-AB48-487CED5FC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99570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F6804-3229-92BC-A2DB-03DC5CDD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D9814A-7D25-8F29-BA2F-CD74D2BC2FD5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EA5BE-2A1D-19A7-CD78-76AE33816A58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សេចក្តីសន្និដ្ឋាន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2B85EA23-6987-3A43-C200-F03DD52C5658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F28B40-A798-139E-3FFF-1A87D630069B}"/>
              </a:ext>
            </a:extLst>
          </p:cNvPr>
          <p:cNvSpPr txBox="1"/>
          <p:nvPr/>
        </p:nvSpPr>
        <p:spPr>
          <a:xfrm>
            <a:off x="878595" y="1777540"/>
            <a:ext cx="1008458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</a:lstStyle>
          <a:p>
            <a:r>
              <a:rPr lang="km-KH" dirty="0"/>
              <a:t>ជាសន្និដ្ឋាន គម្រោងនេះបានឆ្លើយតបយ៉ាងមានប្រសិទ្ធភាពទៅនឹងគោលបំណងចម្បងដែលបានលើកឡើង។ ប្រព័ន្ធថ្មីបានប្តូរការងារទូទៅរបស់សណ្ឋាគារ តារាមាស ឱ្យទៅជាដំណើរការកក់ត្រូវបានកត់ត្រាដោយស្វ័យប្រវត្តិ ដែលជួយកាត់បន្ថយកំហុសឆ្គងអចេតនារបស់មនុស្ស បង្កើនល្បឿនក្នុងការស្វែងរកបន្ទប់ទំនេរជូនភ្ញៀវ និងជួយឱ្យអ្នកគ្រប់គ្រងអាចមើលឃើញពីស្ថានភាពអាជីវកម្ម និងចំណូលប្រចាំថ្ងៃបានភ្លាមៗ ដើម្បីងាយស្រួលក្នុងការធ្វើសេចក្តីសម្រេចចិត្ត។</a:t>
            </a:r>
            <a:endParaRPr lang="en-GB" dirty="0"/>
          </a:p>
          <a:p>
            <a:r>
              <a:rPr lang="km-KH" dirty="0"/>
              <a:t>ទោះបីជាយ៉ាងណាក៏ដោយ ក្នុងដំណាក់កាលបច្ចុប្បន្ននេះ ប្រព័ន្ធនៅមិនទាន់បានភ្ជាប់ទៅនឹងគេហទំព័រកក់បន្ទប់អន្តរជាតិនានា ឬការបញ្ជាឧបករណ៍អគ្គិសនីក្នុងបន្ទប់ដោយស្វ័យប្រវត្តិនោះឡើយ។ ប៉ុន្តែ រចនាសម្ព័ន្ធនៃប្រព័ន្ធនេះត្រូវបានរៀបចំឡើងយ៉ាងមានសណ្តាប់ធ្នាប់ និងមានភាពបត់បែនខ្ពស់ ដែលផ្តល់ភាពងាយស្រួលក្នុងការថែទាំ ក៏ដូចជាការបន្ថែមមុខងារថ្មីៗទៅថ្ងៃអនាគត នៅពេលដែលសណ្ឋាគារមានតម្រូវការរីកចម្រើនជាងនេះ។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D00B7B-B97E-5964-1D70-922C77C2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86408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1050-7A59-CCD6-6778-3571171E0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E2ADCF-06E5-9B3C-4473-C73D3F096C24}"/>
              </a:ext>
            </a:extLst>
          </p:cNvPr>
          <p:cNvSpPr/>
          <p:nvPr/>
        </p:nvSpPr>
        <p:spPr>
          <a:xfrm>
            <a:off x="731520" y="1417320"/>
            <a:ext cx="10728655" cy="27432"/>
          </a:xfrm>
          <a:prstGeom prst="rect">
            <a:avLst/>
          </a:prstGeom>
          <a:solidFill>
            <a:srgbClr val="C8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AD2CB-751B-38FA-45BC-D7816E4A3300}"/>
              </a:ext>
            </a:extLst>
          </p:cNvPr>
          <p:cNvSpPr txBox="1"/>
          <p:nvPr/>
        </p:nvSpPr>
        <p:spPr>
          <a:xfrm>
            <a:off x="1875943" y="379569"/>
            <a:ext cx="84398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32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ការផ្តល់អនុសាសន៍</a:t>
            </a:r>
            <a:endParaRPr lang="en-US" dirty="0">
              <a:latin typeface="Khmer OS Moul Light" panose="02000500000000000000" pitchFamily="2" charset="0"/>
              <a:cs typeface="Khmer OS Moul Light" panose="02000500000000000000" pitchFamily="2" charset="0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4A220EF0-5D91-8DE7-D7CD-57E27843C325}"/>
              </a:ext>
            </a:extLst>
          </p:cNvPr>
          <p:cNvSpPr/>
          <p:nvPr/>
        </p:nvSpPr>
        <p:spPr>
          <a:xfrm>
            <a:off x="10646224" y="209465"/>
            <a:ext cx="813951" cy="1207855"/>
          </a:xfrm>
          <a:custGeom>
            <a:avLst/>
            <a:gdLst/>
            <a:ahLst/>
            <a:cxnLst/>
            <a:rect l="l" t="t" r="r" b="b"/>
            <a:pathLst>
              <a:path w="4663763" h="1608998">
                <a:moveTo>
                  <a:pt x="0" y="0"/>
                </a:moveTo>
                <a:lnTo>
                  <a:pt x="4663763" y="0"/>
                </a:lnTo>
                <a:lnTo>
                  <a:pt x="4663763" y="1608999"/>
                </a:lnTo>
                <a:lnTo>
                  <a:pt x="0" y="160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3012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73A89-DB96-6EB2-502A-F55C58F0586B}"/>
              </a:ext>
            </a:extLst>
          </p:cNvPr>
          <p:cNvSpPr txBox="1"/>
          <p:nvPr/>
        </p:nvSpPr>
        <p:spPr>
          <a:xfrm>
            <a:off x="731520" y="1760915"/>
            <a:ext cx="1057816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 sz="1600">
                <a:latin typeface="Limon NU S1" panose="02000500000000000000" pitchFamily="2" charset="77"/>
                <a:cs typeface="Limon NU S1" panose="02000500000000000000" pitchFamily="2" charset="77"/>
              </a:defRPr>
            </a:lvl1pPr>
          </a:lstStyle>
          <a:p>
            <a:r>
              <a:rPr lang="km-KH" dirty="0"/>
              <a:t>ដើម្បីឱ្យប្រព័ន្ធថ្មីនេះដំណើរការកាន់តែមានប្រសិទ្ធភាពខ្ពស់ និងធានាបាននូវនិរន្តរភាពនៃការប្រើប្រាស់នៅក្នុងសណ្ឋាគារ តារាមាស អនុសាសន៍សំខាន់ៗមួយចំនួនត្រូវបានស្នើឡើងដូចខាងក្រោម៖</a:t>
            </a:r>
            <a:endParaRPr lang="en-GB" dirty="0"/>
          </a:p>
          <a:p>
            <a:r>
              <a:rPr lang="km-KH" dirty="0"/>
              <a:t>ការថែទាំ និងពង្រឹងសុវត្ថិភាពជាប្រចាំ៖ ត្រូវត្រួតពិនិត្យដំណើរការប្រព័ន្ធ និងធ្វើការចម្លងព័ត៌មានរក្សាទុកឱ្យបានទៀងទាត់ ដើម្បីការពារហានិភ័យពីការបាត់បង់ទិន្នន័យ ក៏ដូចជាការគ្រប់គ្រងលេខសម្ងាត់របស់បុគ្គលិកម្នាក់ៗឱ្យមានសុវត្ថិភាពខ្ពស់។</a:t>
            </a:r>
            <a:endParaRPr lang="en-GB" dirty="0"/>
          </a:p>
          <a:p>
            <a:r>
              <a:rPr lang="km-KH" dirty="0"/>
              <a:t>ការប្រមូលមតិកែលម្អ៖ គួរបង្កើតការវាយតម្លៃ ឬសួរនាំមតិយោបល់ពីសំណាក់ភ្ញៀវស្នាក់នៅ និងបុគ្គលិកប្រើប្រាស់ផ្ទាល់ ដើម្បីយកព័ត៌មានទាំងនោះមកធ្វើជាមូលដ្ឋានក្នុងការកែសម្រួលរូបរាងកម្មវិធី និងមុខងារនានាឱ្យកាន់តែងាយស្រួលប្រើប្រាស់ជាងមុន។</a:t>
            </a:r>
            <a:endParaRPr lang="en-GB" dirty="0"/>
          </a:p>
          <a:p>
            <a:r>
              <a:rPr lang="km-KH" dirty="0"/>
              <a:t>ការអភិវឌ្ឍបន្ថែមនាពេលអនាគត៖ នៅពេលដែលប្រព័ន្ធបច្ចុប្បន្នដំណើរការបានយ៉ាងរលូន និងមានស្ថេរភាព សណ្ឋាគារគួរពិចារណាពង្រីកសមត្ថភាពប្រព័ន្ធបន្ថែម ដូចជា ការភ្ជាប់ជាមួយគេហទំព័រកក់បន្ទប់ល្បីៗលើពិភពលោក ការបង្កើតប្រព័ន្ធបញ្ជាទិញអាហារសម្រាប់ភោជនីយដ្ឋាន និងការប្រើប្រាស់ប្រព័ន្ធសោទ្វារឆ្លាតវៃ ដើម្បីលើកកម្ពស់ស្តង់ដារសេវាកម្មសណ្ឋាគារឱ្យកាន់តែទំនើប និងអាចប្រកួតប្រជែងខ្ពស់នៅលើទីផ្សារ។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5FE459-5963-C4AE-22B9-FD29A6FC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59461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>
            <a:extLst>
              <a:ext uri="{FF2B5EF4-FFF2-40B4-BE49-F238E27FC236}">
                <a16:creationId xmlns:a16="http://schemas.microsoft.com/office/drawing/2014/main" id="{A1627226-B937-93AA-4F07-40C51B5571FD}"/>
              </a:ext>
            </a:extLst>
          </p:cNvPr>
          <p:cNvSpPr txBox="1"/>
          <p:nvPr/>
        </p:nvSpPr>
        <p:spPr>
          <a:xfrm>
            <a:off x="2386519" y="5121564"/>
            <a:ext cx="7418962" cy="13272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យើងខ្ញុំរង់ចាំទទួលនូវមតិកែលម្អ</a:t>
            </a:r>
            <a:br>
              <a:rPr lang="km-KH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</a:br>
            <a:r>
              <a:rPr lang="km-KH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និងសំណួរពីគណៈកម្មការ។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AA14D28-6198-BAD3-3D1A-444F595216D9}"/>
              </a:ext>
            </a:extLst>
          </p:cNvPr>
          <p:cNvSpPr txBox="1"/>
          <p:nvPr/>
        </p:nvSpPr>
        <p:spPr>
          <a:xfrm>
            <a:off x="2386519" y="409150"/>
            <a:ext cx="7418962" cy="13272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spcBef>
                <a:spcPct val="0"/>
              </a:spcBef>
              <a:defRPr sz="4500">
                <a:latin typeface="Limon NU R1" panose="02000500000000000000" pitchFamily="2" charset="0"/>
                <a:ea typeface="Bayon"/>
                <a:cs typeface="Limon NU R1" panose="02000500000000000000" pitchFamily="2" charset="0"/>
              </a:defRPr>
            </a:lvl1pPr>
          </a:lstStyle>
          <a:p>
            <a:r>
              <a:rPr lang="km-KH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សូមអរគុណ!</a:t>
            </a:r>
            <a:br>
              <a:rPr lang="km-KH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</a:br>
            <a:r>
              <a:rPr lang="km-KH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(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r>
              <a:rPr lang="en-GB" sz="3000" dirty="0">
                <a:latin typeface="Khmer OS Moul Light" panose="02000500000000000000" pitchFamily="2" charset="0"/>
                <a:cs typeface="Khmer OS Moul Light" panose="02000500000000000000" pitchFamily="2" charset="0"/>
              </a:rPr>
              <a:t>!)</a:t>
            </a:r>
          </a:p>
        </p:txBody>
      </p:sp>
      <p:pic>
        <p:nvPicPr>
          <p:cNvPr id="6" name="Picture 5" descr="Thank You Icons - Free SVG &amp; PNG Thank You Images - Noun Project">
            <a:extLst>
              <a:ext uri="{FF2B5EF4-FFF2-40B4-BE49-F238E27FC236}">
                <a16:creationId xmlns:a16="http://schemas.microsoft.com/office/drawing/2014/main" id="{4EC84542-1319-ABEB-BD40-0A1ABD086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159" y="2159159"/>
            <a:ext cx="2539682" cy="253968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AF5D9-2891-289A-DF95-2F481A560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73466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579F-CAED-267C-4BE7-6EEF2363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E8DD80F-D279-8F3E-0053-AD7B1FFF7CC0}"/>
              </a:ext>
            </a:extLst>
          </p:cNvPr>
          <p:cNvSpPr txBox="1"/>
          <p:nvPr/>
        </p:nvSpPr>
        <p:spPr>
          <a:xfrm>
            <a:off x="819595" y="9379751"/>
            <a:ext cx="593879" cy="5924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km-KH" sz="2800" b="1" dirty="0">
                <a:latin typeface="Limon NU S1" panose="02000500000000000000" pitchFamily="2" charset="0"/>
                <a:cs typeface="Limon NU S1" panose="02000500000000000000" pitchFamily="2" charset="0"/>
              </a:rPr>
              <a:t>១០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2D9B47-100E-F070-24FF-791371E7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56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5704</TotalTime>
  <Words>2903</Words>
  <Application>Microsoft Office PowerPoint</Application>
  <PresentationFormat>Widescreen</PresentationFormat>
  <Paragraphs>226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Khmer OS Moul Light</vt:lpstr>
      <vt:lpstr>Limon NU S1</vt:lpstr>
      <vt:lpstr>Limon S1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Sanora Mam</cp:lastModifiedBy>
  <cp:revision>12</cp:revision>
  <cp:lastPrinted>2026-07-27T13:00:48Z</cp:lastPrinted>
  <dcterms:created xsi:type="dcterms:W3CDTF">2013-01-27T09:14:16Z</dcterms:created>
  <dcterms:modified xsi:type="dcterms:W3CDTF">2026-07-31T09:50:14Z</dcterms:modified>
  <cp:category/>
</cp:coreProperties>
</file>