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20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E5C6C-F2C7-8645-808C-176854B9470E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608CD-5DEF-894D-9CE1-58806D5A5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5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5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A96E"/>
                </a:solidFill>
                <a:latin typeface="Arial"/>
              </a:defRPr>
            </a:pPr>
            <a:r>
              <a:t>NORTON UNIVERSITY • FACULTY OF COMPUTER SCIENCE</a:t>
            </a:r>
          </a:p>
          <a:p>
            <a:pPr algn="ctr">
              <a:defRPr sz="1100">
                <a:solidFill>
                  <a:srgbClr val="94A3B8"/>
                </a:solidFill>
                <a:latin typeface="Arial"/>
              </a:defRPr>
            </a:pPr>
            <a:r>
              <a:t>DEPARTMENT OF COMPUTER SCIENCE (BATCH 27,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Arial"/>
              </a:defRPr>
            </a:pPr>
            <a:r>
              <a:t>ប្រព័ន្ធដំណើរការកក់សណ្ឋាគារ តារាមាស</a:t>
            </a:r>
          </a:p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Dara Meas Hotel Booking Operation System</a:t>
            </a:r>
          </a:p>
          <a:p>
            <a:pPr algn="ctr">
              <a:defRPr sz="1300" b="1">
                <a:solidFill>
                  <a:srgbClr val="0EA5E9"/>
                </a:solidFill>
                <a:latin typeface="Arial"/>
              </a:defRPr>
            </a:pPr>
            <a:r>
              <a:t>BACHELOR CAPSTONE PROJECT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11880"/>
            <a:ext cx="5790895" cy="182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A96E"/>
                </a:solidFill>
                <a:latin typeface="Arial"/>
              </a:defRPr>
            </a:pPr>
            <a:r>
              <a:t>DEVELOPED BY (TEAM 14):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1. Morm Sanra (ម៉ម សានរ៉ា)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2. Ny Sokchan Soksdey (នី សុខច័ន្ទសួស្ដី)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3. Nak Mada (ណាក់ ម៉ាដា)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4. Seng Kimsant (សេង គីមសាន្ត)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840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A96E"/>
                </a:solidFill>
                <a:latin typeface="Arial"/>
              </a:defRPr>
            </a:pPr>
            <a:r>
              <a:t>PROJECT ADVISOR: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Prof. Lim Chonghuy (MScIT)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សាស្ត្រាចារ្យ លឹម ជុងហ៊ុយ</a:t>
            </a:r>
          </a:p>
          <a:p>
            <a:br/>
            <a:r>
              <a:t>Academic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Background &amp; Case Study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Dara Meas 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Location: No. 40E, St. 2004, Phnom Penh, Cambodia.</a:t>
            </a:r>
            <a:br/>
            <a:br/>
            <a:r>
              <a:t>• Founded: 2019 (Established mid-scale hospitality enterprise).</a:t>
            </a:r>
            <a:br/>
            <a:br/>
            <a:r>
              <a:t>• Capacity: 47 fully furnished guest rooms.</a:t>
            </a:r>
            <a:br/>
            <a:br/>
            <a:r>
              <a:t>• Room Categories:</a:t>
            </a:r>
            <a:br/>
            <a:r>
              <a:t>  - Standard Twin</a:t>
            </a:r>
            <a:br/>
            <a:r>
              <a:t>  - Standard Double</a:t>
            </a:r>
            <a:br/>
            <a:r>
              <a:t>  - Deluxe Double</a:t>
            </a:r>
            <a:br/>
            <a:r>
              <a:t>  - Family Room</a:t>
            </a:r>
            <a:br/>
            <a:r>
              <a:t>  - Executive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78308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Operational 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28600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Legacy Method: Started as a family-run business relying heavily on paper logbooks and disconnected Excel spreadsheets.</a:t>
            </a:r>
            <a:br/>
            <a:br/>
            <a:r>
              <a:t>• Market Challenge: Rapid post-pandemic tourism growth in Phnom Penh increased competition.</a:t>
            </a:r>
            <a:br/>
            <a:br/>
            <a:r>
              <a:t>• Digital Imperative: Urgent need for automated management, online presence, and streamlined guest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78308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Capstone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86000"/>
            <a:ext cx="296265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Modernization: Engineer a comprehensive, web-based Hotel Operations &amp; Booking System.</a:t>
            </a:r>
            <a:br/>
            <a:br/>
            <a:r>
              <a:t>• Integration: Unify front-desk operations, online guest bookings, KHQR payments, and financial analytics.</a:t>
            </a:r>
            <a:br/>
            <a:br/>
            <a:r>
              <a:t>• Algorithmic Enhancement: Implement smart revenue management with stochastic overbooking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Problem Statement &amp; Legacy Operations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</a:defRPr>
            </a:pPr>
            <a:r>
              <a:rPr>
                <a:solidFill>
                  <a:schemeClr val="bg1"/>
                </a:solidFill>
              </a:rPr>
              <a:t>1. Manual Paper Bookkeeping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Bookings recorded by hand in paper notebooks or basic Excel. High vulnerability to misplaced records, typos, and illegible entries.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1828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rPr>
                <a:solidFill>
                  <a:schemeClr val="bg1"/>
                </a:solidFill>
              </a:rPr>
              <a:t>2. Double-Booking &amp; Inventory Risk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Lack of synchronized real-time availability leads to over-booking or unfulfilled room allocations during peak tourist seasons.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3. Delayed Room State Tracking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No immediate visibility of room states (Available / Occupied / Dirty). Housekeeping coordination happens via fragmented Telegram chats.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4114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rPr>
                <a:solidFill>
                  <a:schemeClr val="bg1"/>
                </a:solidFill>
              </a:rPr>
              <a:t>4. Cash-Only &amp; Manual Auditing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Manual payment logs cause revenue leakages, tedious nightly reconciliation, and delayed financial reporting for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Objectives &amp; Boundary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Core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1. Operational Automation: Replace paper ledgers with a centralized digital management system.</a:t>
            </a:r>
            <a:br/>
            <a:br/>
            <a:r>
              <a:t>2. Real-Time Room Tracking: Provide instant status updates across Front Desk, Housekeeping, and Admin.</a:t>
            </a:r>
            <a:br/>
            <a:br/>
            <a:r>
              <a:t>3. Integrated Cashless Payments: Enable Bakong KHQR &amp; ABA Payway QR code payment processing.</a:t>
            </a:r>
            <a:br/>
            <a:br/>
            <a:r>
              <a:t>4. Smart Revenue Optimization: Implement an automated overbooking multiplier heuristic to maximize yield.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Scope Boundaries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IN-SCOPE:</a:t>
            </a:r>
            <a:br/>
            <a:r>
              <a:t>• Multi-role portal (Admin, Manager, Receptionist, Guest).</a:t>
            </a:r>
            <a:br/>
            <a:r>
              <a:t>• Guest online booking &amp; direct search filter.</a:t>
            </a:r>
            <a:br/>
            <a:r>
              <a:t>• Walk-in proxy booking &amp; stay extension.</a:t>
            </a:r>
            <a:br/>
            <a:r>
              <a:t>• KHQR / ABA Payway payment confirmation.</a:t>
            </a:r>
            <a:br/>
            <a:r>
              <a:t>• Overbooking optimization command &amp; analytics.</a:t>
            </a:r>
            <a:br/>
            <a:br/>
            <a:r>
              <a:t>OUT-OF-SCOPE:</a:t>
            </a:r>
            <a:br/>
            <a:r>
              <a:t>• Global OTA API sync (Booking.com / Airbnb).</a:t>
            </a:r>
            <a:br/>
            <a:r>
              <a:t>• Full enterprise ERP/accounting software.</a:t>
            </a:r>
            <a:br/>
            <a:r>
              <a:t>• IoT smart door lock hardware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Software Development Life Cycle: Agile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73736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A96E"/>
                </a:solidFill>
              </a:defRPr>
            </a:pPr>
            <a:r>
              <a:rPr>
                <a:solidFill>
                  <a:schemeClr val="bg1"/>
                </a:solidFill>
              </a:rPr>
              <a:t>1. Exploration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Req. gathering, staff interviews, current workflow mapping.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1" y="1828800"/>
            <a:ext cx="17373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rPr>
                <a:solidFill>
                  <a:schemeClr val="bg1"/>
                </a:solidFill>
              </a:rPr>
              <a:t>2. Planning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Architecture design, User Stories, Planning Game, DFDs.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21224" y="1828800"/>
            <a:ext cx="173736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3. Iterations (Sprints)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2-3 week sprints, feature development, unit/integration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7496" y="1828800"/>
            <a:ext cx="173736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rPr>
                <a:solidFill>
                  <a:schemeClr val="bg1"/>
                </a:solidFill>
              </a:rPr>
              <a:t>4. Productionizing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Local server setup, XAMPP/MySQL config, system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73768" y="1828800"/>
            <a:ext cx="17373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A96E"/>
                </a:solidFill>
              </a:defRPr>
            </a:pPr>
            <a:r>
              <a:rPr dirty="0">
                <a:solidFill>
                  <a:schemeClr val="bg1"/>
                </a:solidFill>
              </a:rPr>
              <a:t>5. Maintenance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System auditing, bug fixes, data backup &amp; user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Role-Based Access Control (RBAC)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9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</a:defRPr>
            </a:pPr>
            <a:r>
              <a:rPr dirty="0"/>
              <a:t>Role: Administrator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Key Capabilities: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Full system control, staff management, room pricing config, backup/restore, overbooking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1828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rPr dirty="0"/>
              <a:t>Role: Manager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Key Capabilities: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Business logic overview, revenue reporting, occupancy analytics, cancellation rates analysis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097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 dirty="0"/>
              <a:t>Role: Receptionist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Key Capabilities: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Front-desk operations, walk-in registration, check-in/out processing, stay extensions, KHQR payment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4114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rPr dirty="0"/>
              <a:t>Role: Guest / Public User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Key Capabilities: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Online room browsing, date availability filter, self-service booking, QR payment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Analysis: Data Flow Diagram (DFD)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Context Diagram &amp; 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External Entities:</a:t>
            </a:r>
            <a:br/>
            <a:r>
              <a:t>• Guest: Booking requests, payment details, feedback.</a:t>
            </a:r>
            <a:br/>
            <a:r>
              <a:t>• Receptionist: Check-in/out triggers, proxy bookings.</a:t>
            </a:r>
            <a:br/>
            <a:r>
              <a:t>• Admin: Rate changes, user management.</a:t>
            </a:r>
            <a:br/>
            <a:r>
              <a:t>• Payment Gateway: KHQR payment status callback.</a:t>
            </a:r>
            <a:br/>
            <a:br/>
            <a:r>
              <a:t>Key Core Processes (DFD Level 0):</a:t>
            </a:r>
            <a:br/>
            <a:r>
              <a:t>1.0 Web Access &amp; Room Search</a:t>
            </a:r>
            <a:br/>
            <a:r>
              <a:t>2.0 Payment Processing</a:t>
            </a:r>
            <a:br/>
            <a:r>
              <a:t>3.0 Check-In / Check-Out Operations</a:t>
            </a:r>
            <a:br/>
            <a:r>
              <a:t>4.0 Staff &amp; Access Administration</a:t>
            </a:r>
            <a:br/>
            <a:r>
              <a:t>5.0 Stay Extension</a:t>
            </a:r>
            <a:br/>
            <a:r>
              <a:t>6.0 Room Services Management</a:t>
            </a:r>
            <a:br/>
            <a:r>
              <a:t>7.0 System Administration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Data Stores &amp; State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Primary Data Stores:</a:t>
            </a:r>
            <a:br/>
            <a:r>
              <a:t>• D1: Guests (Profile, contact credentials)</a:t>
            </a:r>
            <a:br/>
            <a:r>
              <a:t>• D2: Rooms (Room number, status, capacity)</a:t>
            </a:r>
            <a:br/>
            <a:r>
              <a:t>• D3: Bookings (Dates, statuses, multipliers)</a:t>
            </a:r>
            <a:br/>
            <a:r>
              <a:t>• D4: Transactions (Payments, receipts, KHQR ref)</a:t>
            </a:r>
            <a:br/>
            <a:r>
              <a:t>• D5: Staffs (User credentials, RBAC roles)</a:t>
            </a:r>
            <a:br/>
            <a:r>
              <a:t>• D6: Admins (System configurations)</a:t>
            </a:r>
            <a:br/>
            <a:br/>
            <a:r>
              <a:t>Room State Transitions:</a:t>
            </a:r>
            <a:br/>
            <a:r>
              <a:t>Available ──(Check-In)──&gt; Occupied ──(Check-Out)──&gt; Dirty ──(Housekeeping)──&gt;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Database Architecture &amp; Entity-Relationship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Relational Database Structure (MySQL)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6289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8A96E"/>
                </a:solidFill>
              </a:defRPr>
            </a:pPr>
            <a:r>
              <a:rPr>
                <a:solidFill>
                  <a:schemeClr val="bg1"/>
                </a:solidFill>
              </a:rPr>
              <a:t>Core Tables &amp; Key Relationships: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room_types: (id, name, price_per_night, overbooking_multiplier, capacity)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rooms: (id, room_number, room_type_id [FK], current_status: available/occupied/dirty)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guests: (id, full_name, email, phone, gender, nationality)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bookings: (id, guest_id [FK], room_id [FK], check_in_date, check_out_date, booking_status: pending/booked/checked_in/checked_out/no_show/relocated)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transactions: (id, booking_id [FK], amount_paid, payment_method: cash/khqr, payment_status: paid/partial/refunded)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staff: (id, full_name, username, role: admin/manager/receptionist, password_hash)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room_services: (id, booking_id [FK], request_type, status, notes)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Features &amp; Cashless Payment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</a:defRPr>
            </a:pPr>
            <a:r>
              <a:rPr>
                <a:solidFill>
                  <a:schemeClr val="bg1"/>
                </a:solidFill>
              </a:rPr>
              <a:t>Online Guest Self-Booking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Guests can browse available rooms, filter by dates and room types, select options, and submit booking requests 24/7.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1828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rPr>
                <a:solidFill>
                  <a:schemeClr val="bg1"/>
                </a:solidFill>
              </a:rPr>
              <a:t>KHQR &amp; ABA Payway Integration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Generates dynamic KHQR payment codes via Bakong API &amp; ABA Payway. Instant verification and electronic receipts.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Front Desk Desk Portal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Receptionists easily handle walk-in bookings, check-in, check-out, balance collection, and stay extensions in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4114800"/>
            <a:ext cx="4809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rPr>
                <a:solidFill>
                  <a:schemeClr val="bg1"/>
                </a:solidFill>
              </a:rPr>
              <a:t>Analytical Management Dashboard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Admins view real-time occupancy rates, monthly revenue graphs, booking logs, and automatic data backups.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Algorithmic Innovation: Overbooking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Stochastic Heuristic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Command: app:optimize-overbooking</a:t>
            </a:r>
            <a:br/>
            <a:r>
              <a:t>Schedule: Nightly at 02:05 AM (after night audit)</a:t>
            </a:r>
            <a:br/>
            <a:r>
              <a:t>Theoretical Basis: Talluri &amp; van Ryzin Revenue Management</a:t>
            </a:r>
            <a:br/>
            <a:br/>
            <a:r>
              <a:t>Self-Tuning Multiplier Logic:</a:t>
            </a:r>
            <a:br/>
            <a:r>
              <a:t>• Penalty Step (-0.05):</a:t>
            </a:r>
            <a:br/>
            <a:r>
              <a:t>  Applied if relocations &gt; 0 (overbooking was too aggressive; dial back risk).</a:t>
            </a:r>
            <a:br/>
            <a:r>
              <a:t>• Reward Step (+0.01):</a:t>
            </a:r>
            <a:br/>
            <a:r>
              <a:t>  Applied if no-shows &gt; 0 and relocations = 0 (played too safe; rooms went wasted).</a:t>
            </a:r>
            <a:br/>
            <a:r>
              <a:t>• Neutral Step (0.00):</a:t>
            </a:r>
            <a:br/>
            <a:r>
              <a:t>  No relocations and no no-shows.</a:t>
            </a:r>
            <a:br/>
            <a:br/>
            <a:r>
              <a:t>Clamped Range: 1.00 ≤ overbooking_multiplier ≤ 1.50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Code Implementation Highlight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Code Snippet (OptimizeOverbooking.php):</a:t>
            </a:r>
            <a:br/>
            <a:br/>
            <a:r>
              <a:t>$relocations = $yesterdayBookings</a:t>
            </a:r>
            <a:br/>
            <a:r>
              <a:t>  -&gt;where('status', STATUS_RELOCATED)-&gt;count();</a:t>
            </a:r>
            <a:br/>
            <a:r>
              <a:t>$noShows = $yesterdayBookings</a:t>
            </a:r>
            <a:br/>
            <a:r>
              <a:t>  -&gt;where('status', STATUS_NO_SHOW)-&gt;count();</a:t>
            </a:r>
            <a:br/>
            <a:br/>
            <a:r>
              <a:t>if ($relocations &gt; 0) {</a:t>
            </a:r>
            <a:br/>
            <a:r>
              <a:t>    $adjusted -= self::PENALTY_STEP; // -0.05</a:t>
            </a:r>
            <a:br/>
            <a:r>
              <a:t>} elseif ($noShows &gt; 0) {</a:t>
            </a:r>
            <a:br/>
            <a:r>
              <a:t>    $adjusted += self::REWARD_STEP;  // +0.01</a:t>
            </a:r>
            <a:br/>
            <a:r>
              <a:t>}</a:t>
            </a:r>
            <a:br/>
            <a:br/>
            <a:r>
              <a:t>$roomType-&gt;overbooking_multiplier =</a:t>
            </a:r>
            <a:br/>
            <a:r>
              <a:t>    min(1.50, max(1.00, $adjusted));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Technology Stack &amp; Technical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6771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A96E"/>
                </a:solidFill>
              </a:defRPr>
            </a:pPr>
            <a:r>
              <a:rPr dirty="0">
                <a:solidFill>
                  <a:schemeClr val="bg1"/>
                </a:solidFill>
              </a:rPr>
              <a:t>Backend Framework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PHP 8.x / 11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Laravel Framework (MVC)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Composer Package Manager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Artisan CLI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828800"/>
            <a:ext cx="22677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rPr dirty="0">
                <a:solidFill>
                  <a:schemeClr val="bg1"/>
                </a:solidFill>
              </a:rPr>
              <a:t>Frontend &amp; UI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React.js</a:t>
            </a:r>
            <a:r>
              <a:rPr dirty="0">
                <a:solidFill>
                  <a:schemeClr val="bg1"/>
                </a:solidFill>
              </a:rPr>
              <a:t> / Blade Views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Vanilla CSS &amp; Tailwind CSS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Bootstrap Icons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Responsive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8504" y="1828800"/>
            <a:ext cx="22677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Database &amp; Web Server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MySQL RDBMS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Apache Web Server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XAMPP Control Panel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• Windows 10/11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43416" y="1828800"/>
            <a:ext cx="22677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rPr dirty="0">
                <a:solidFill>
                  <a:schemeClr val="bg1"/>
                </a:solidFill>
              </a:rPr>
              <a:t>DevOps &amp; Utilities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Git / GitHub Version Control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VS Code IDE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Postman API Tester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ReportLab</a:t>
            </a:r>
            <a:r>
              <a:rPr dirty="0">
                <a:solidFill>
                  <a:schemeClr val="bg1"/>
                </a:solidFill>
              </a:rPr>
              <a:t> / PDF Utilities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Interface &amp; Portal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90672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</a:defRPr>
            </a:pPr>
            <a:r>
              <a:rPr>
                <a:solidFill>
                  <a:schemeClr val="bg1"/>
                </a:solidFill>
              </a:rPr>
              <a:t>Guest Portal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Modern homepage, interactive room catalog, date availability picker, online reservation form, instant KHQR code modal.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9067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rPr>
                <a:solidFill>
                  <a:schemeClr val="bg1"/>
                </a:solidFill>
              </a:rPr>
              <a:t>Reception Portal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Front-desk operations board, quick walk-in guest check-in, real-time room availability grid, stay extension popup, check-out receipt printer.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56432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4" y="1828800"/>
            <a:ext cx="3090672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Admin Portal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Financial performance dashboard, monthly revenue graphs, room type price adjustment, staff account creation, system backup controls.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Operational Results &amp; Business Impact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9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rPr dirty="0">
                <a:solidFill>
                  <a:schemeClr val="bg1"/>
                </a:solidFill>
              </a:rPr>
              <a:t>+60%  —  Staff Workload Efficiency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Automated booking and room tracking drastically reduced front-desk paperwork.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4224" y="1783080"/>
            <a:ext cx="4809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8A96E"/>
                </a:solidFill>
              </a:defRPr>
            </a:pPr>
            <a:r>
              <a:rPr dirty="0">
                <a:solidFill>
                  <a:schemeClr val="bg1"/>
                </a:solidFill>
              </a:rPr>
              <a:t>-90%  —  Reduction in Errors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Eliminated paper ledger mistakes and prevented double-booking risks.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09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rPr dirty="0">
                <a:solidFill>
                  <a:schemeClr val="bg1"/>
                </a:solidFill>
              </a:rPr>
              <a:t>-50%  —  Guest Check-In Time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Streamlined KHQR payment &amp; instant check-in reduced lobby waiting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931920"/>
            <a:ext cx="5175504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4069080"/>
            <a:ext cx="4809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rPr>
                <a:solidFill>
                  <a:schemeClr val="bg1"/>
                </a:solidFill>
              </a:rPr>
              <a:t>100%  —  Data Auditability</a:t>
            </a:r>
          </a:p>
          <a:p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Full digital audit trail for all transactions, bookings, and room status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A96E"/>
                </a:solidFill>
                <a:latin typeface="Arial"/>
              </a:defRPr>
            </a:pPr>
            <a:r>
              <a:t>CAPSTONE DEFENSE — NORTON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Future Roadmap &amp; Defense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8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Future System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1. Global Channel Manager:</a:t>
            </a:r>
            <a:br/>
            <a:r>
              <a:t>Integrate Booking.com and Agoda API for automated two-way inventory syncing.</a:t>
            </a:r>
            <a:br/>
            <a:br/>
            <a:r>
              <a:t>2. Smart IoT Door Locks:</a:t>
            </a:r>
            <a:br/>
            <a:r>
              <a:t>Implement Bluetooth / QR Code smart lock access for keyless guest check-in.</a:t>
            </a:r>
            <a:br/>
            <a:br/>
            <a:r>
              <a:t>3. Restaurant POS Module:</a:t>
            </a:r>
            <a:br/>
            <a:r>
              <a:t>Connect hotel restaurant &amp; room service billing directly to guest room folios.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A96E"/>
                </a:solidFill>
                <a:latin typeface="Arial"/>
              </a:defRPr>
            </a:pPr>
            <a:r>
              <a:t>Conclusion &amp; Q&amp;A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86000"/>
            <a:ext cx="480974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THANK YOU!</a:t>
            </a:r>
            <a:br/>
            <a:br/>
            <a:r>
              <a:t>The Dara Meas Hotel Booking Operation System successfully fulfills all Bachelor Capstone Requirements for Norton University.</a:t>
            </a:r>
            <a:br/>
            <a:br/>
            <a:r>
              <a:t>We would like to thank our Advisor, Prof. Lim Chonghuy, and the Honorable Examination Committee.</a:t>
            </a:r>
            <a:br/>
            <a:br/>
            <a:r>
              <a:t>We are now ready for your questions &amp;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2479</TotalTime>
  <Words>2014</Words>
  <Application>Microsoft Macintosh PowerPoint</Application>
  <PresentationFormat>Widescreen</PresentationFormat>
  <Paragraphs>122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2026-07-24T06:09:06Z</dcterms:modified>
  <cp:category/>
</cp:coreProperties>
</file>